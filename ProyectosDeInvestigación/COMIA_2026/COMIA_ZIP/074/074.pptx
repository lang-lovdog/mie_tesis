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media/image6.emf" ContentType="image/x-emf"/>
  <Override PartName="/ppt/media/image11.emf" ContentType="image/x-emf"/>
  <Override PartName="/ppt/media/image5.emf" ContentType="image/x-emf"/>
  <Override PartName="/ppt/media/image7.emf" ContentType="image/x-emf"/>
  <Override PartName="/ppt/media/image12.emf" ContentType="image/x-emf"/>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Lst>
  <p:sldSz cx="30275213" cy="42803763"/>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1513440" y="1707840"/>
            <a:ext cx="27247320" cy="7147800"/>
          </a:xfrm>
          <a:prstGeom prst="rect">
            <a:avLst/>
          </a:prstGeom>
          <a:noFill/>
          <a:ln w="0">
            <a:noFill/>
          </a:ln>
        </p:spPr>
        <p:txBody>
          <a:bodyPr lIns="0" tIns="0" rIns="0" bIns="0" anchor="ctr">
            <a:spAutoFit/>
          </a:bodyPr>
          <a:p>
            <a:pPr indent="0" algn="l">
              <a:buNone/>
            </a:pPr>
            <a:endParaRPr lang="es-MX" sz="1400" b="0" u="none" strike="noStrike">
              <a:solidFill>
                <a:srgbClr val="000000"/>
              </a:solidFill>
              <a:effectLst/>
              <a:uFillTx/>
              <a:latin typeface="Arial"/>
            </a:endParaRPr>
          </a:p>
        </p:txBody>
      </p:sp>
      <p:sp>
        <p:nvSpPr>
          <p:cNvPr id="6" name="PlaceHolder 2"/>
          <p:cNvSpPr>
            <a:spLocks noGrp="1"/>
          </p:cNvSpPr>
          <p:nvPr>
            <p:ph type="subTitle"/>
          </p:nvPr>
        </p:nvSpPr>
        <p:spPr>
          <a:xfrm>
            <a:off x="1513440" y="10015920"/>
            <a:ext cx="27247320" cy="24825600"/>
          </a:xfrm>
          <a:prstGeom prst="rect">
            <a:avLst/>
          </a:prstGeom>
          <a:noFill/>
          <a:ln w="0">
            <a:noFill/>
          </a:ln>
        </p:spPr>
        <p:txBody>
          <a:bodyPr lIns="0" tIns="0" rIns="0" bIns="0" anchor="ctr">
            <a:spAutoFit/>
          </a:bodyPr>
          <a:p>
            <a:pPr indent="0" algn="ctr">
              <a:buNone/>
            </a:pPr>
            <a:endParaRPr lang="es-MX" sz="32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 name="Imagen 4"/>
          <p:cNvPicPr/>
          <p:nvPr/>
        </p:nvPicPr>
        <p:blipFill>
          <a:blip r:embed="rId2"/>
          <a:stretch/>
        </p:blipFill>
        <p:spPr>
          <a:xfrm>
            <a:off x="-94320" y="0"/>
            <a:ext cx="30369240" cy="43108200"/>
          </a:xfrm>
          <a:prstGeom prst="rect">
            <a:avLst/>
          </a:prstGeom>
          <a:noFill/>
          <a:ln w="0">
            <a:noFill/>
          </a:ln>
        </p:spPr>
      </p:pic>
      <p:sp>
        <p:nvSpPr>
          <p:cNvPr id="3" name="PlaceHolder 1"/>
          <p:cNvSpPr>
            <a:spLocks noGrp="1"/>
          </p:cNvSpPr>
          <p:nvPr>
            <p:ph type="title"/>
          </p:nvPr>
        </p:nvSpPr>
        <p:spPr>
          <a:xfrm>
            <a:off x="1513440" y="1707840"/>
            <a:ext cx="27247320" cy="7147800"/>
          </a:xfrm>
          <a:prstGeom prst="rect">
            <a:avLst/>
          </a:prstGeom>
          <a:noFill/>
          <a:ln w="0">
            <a:noFill/>
          </a:ln>
        </p:spPr>
        <p:txBody>
          <a:bodyPr lIns="0" tIns="0" rIns="0" bIns="0" anchor="ctr">
            <a:noAutofit/>
          </a:bodyPr>
          <a:lstStyle>
            <a:lvl1pPr indent="0" algn="l">
              <a:buNone/>
              <a:defRPr lang="es-MX" sz="1400" b="0" u="none" strike="noStrike">
                <a:solidFill>
                  <a:srgbClr val="000000"/>
                </a:solidFill>
                <a:effectLst/>
                <a:uFillTx/>
                <a:latin typeface="Arial"/>
              </a:defRPr>
            </a:lvl1pPr>
          </a:lstStyle>
          <a:p>
            <a:pPr indent="0" algn="l">
              <a:buNone/>
            </a:pPr>
            <a:r>
              <a:rPr lang="es-MX" sz="1400" b="0" u="none" strike="noStrike">
                <a:solidFill>
                  <a:srgbClr val="000000"/>
                </a:solidFill>
                <a:effectLst/>
                <a:uFillTx/>
                <a:latin typeface="Arial"/>
              </a:rPr>
              <a:t>C</a:t>
            </a:r>
            <a:r>
              <a:rPr lang="es-MX" sz="1400" b="0" u="none" strike="noStrike">
                <a:solidFill>
                  <a:srgbClr val="000000"/>
                </a:solidFill>
                <a:effectLst/>
                <a:uFillTx/>
                <a:latin typeface="Arial"/>
              </a:rPr>
              <a:t>l</a:t>
            </a:r>
            <a:r>
              <a:rPr lang="es-MX" sz="1400" b="0" u="none" strike="noStrike">
                <a:solidFill>
                  <a:srgbClr val="000000"/>
                </a:solidFill>
                <a:effectLst/>
                <a:uFillTx/>
                <a:latin typeface="Arial"/>
              </a:rPr>
              <a:t>i</a:t>
            </a:r>
            <a:r>
              <a:rPr lang="es-MX" sz="1400" b="0" u="none" strike="noStrike">
                <a:solidFill>
                  <a:srgbClr val="000000"/>
                </a:solidFill>
                <a:effectLst/>
                <a:uFillTx/>
                <a:latin typeface="Arial"/>
              </a:rPr>
              <a:t>c</a:t>
            </a:r>
            <a:r>
              <a:rPr lang="es-MX" sz="1400" b="0" u="none" strike="noStrike">
                <a:solidFill>
                  <a:srgbClr val="000000"/>
                </a:solidFill>
                <a:effectLst/>
                <a:uFillTx/>
                <a:latin typeface="Arial"/>
              </a:rPr>
              <a:t>k</a:t>
            </a:r>
            <a:r>
              <a:rPr lang="es-MX" sz="1400" b="0" u="none" strike="noStrike">
                <a:solidFill>
                  <a:srgbClr val="000000"/>
                </a:solidFill>
                <a:effectLst/>
                <a:uFillTx/>
                <a:latin typeface="Arial"/>
              </a:rPr>
              <a:t> </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o</a:t>
            </a:r>
            <a:r>
              <a:rPr lang="es-MX" sz="1400" b="0" u="none" strike="noStrike">
                <a:solidFill>
                  <a:srgbClr val="000000"/>
                </a:solidFill>
                <a:effectLst/>
                <a:uFillTx/>
                <a:latin typeface="Arial"/>
              </a:rPr>
              <a:t> </a:t>
            </a:r>
            <a:r>
              <a:rPr lang="es-MX" sz="1400" b="0" u="none" strike="noStrike">
                <a:solidFill>
                  <a:srgbClr val="000000"/>
                </a:solidFill>
                <a:effectLst/>
                <a:uFillTx/>
                <a:latin typeface="Arial"/>
              </a:rPr>
              <a:t>e</a:t>
            </a:r>
            <a:r>
              <a:rPr lang="es-MX" sz="1400" b="0" u="none" strike="noStrike">
                <a:solidFill>
                  <a:srgbClr val="000000"/>
                </a:solidFill>
                <a:effectLst/>
                <a:uFillTx/>
                <a:latin typeface="Arial"/>
              </a:rPr>
              <a:t>d</a:t>
            </a:r>
            <a:r>
              <a:rPr lang="es-MX" sz="1400" b="0" u="none" strike="noStrike">
                <a:solidFill>
                  <a:srgbClr val="000000"/>
                </a:solidFill>
                <a:effectLst/>
                <a:uFillTx/>
                <a:latin typeface="Arial"/>
              </a:rPr>
              <a:t>i</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 </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h</a:t>
            </a:r>
            <a:r>
              <a:rPr lang="es-MX" sz="1400" b="0" u="none" strike="noStrike">
                <a:solidFill>
                  <a:srgbClr val="000000"/>
                </a:solidFill>
                <a:effectLst/>
                <a:uFillTx/>
                <a:latin typeface="Arial"/>
              </a:rPr>
              <a:t>e</a:t>
            </a:r>
            <a:r>
              <a:rPr lang="es-MX" sz="1400" b="0" u="none" strike="noStrike">
                <a:solidFill>
                  <a:srgbClr val="000000"/>
                </a:solidFill>
                <a:effectLst/>
                <a:uFillTx/>
                <a:latin typeface="Arial"/>
              </a:rPr>
              <a:t> </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i</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l</a:t>
            </a:r>
            <a:r>
              <a:rPr lang="es-MX" sz="1400" b="0" u="none" strike="noStrike">
                <a:solidFill>
                  <a:srgbClr val="000000"/>
                </a:solidFill>
                <a:effectLst/>
                <a:uFillTx/>
                <a:latin typeface="Arial"/>
              </a:rPr>
              <a:t>e</a:t>
            </a:r>
            <a:r>
              <a:rPr lang="es-MX" sz="1400" b="0" u="none" strike="noStrike">
                <a:solidFill>
                  <a:srgbClr val="000000"/>
                </a:solidFill>
                <a:effectLst/>
                <a:uFillTx/>
                <a:latin typeface="Arial"/>
              </a:rPr>
              <a:t> </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e</a:t>
            </a:r>
            <a:r>
              <a:rPr lang="es-MX" sz="1400" b="0" u="none" strike="noStrike">
                <a:solidFill>
                  <a:srgbClr val="000000"/>
                </a:solidFill>
                <a:effectLst/>
                <a:uFillTx/>
                <a:latin typeface="Arial"/>
              </a:rPr>
              <a:t>x</a:t>
            </a:r>
            <a:r>
              <a:rPr lang="es-MX" sz="1400" b="0" u="none" strike="noStrike">
                <a:solidFill>
                  <a:srgbClr val="000000"/>
                </a:solidFill>
                <a:effectLst/>
                <a:uFillTx/>
                <a:latin typeface="Arial"/>
              </a:rPr>
              <a:t>t</a:t>
            </a:r>
            <a:r>
              <a:rPr lang="es-MX" sz="1400" b="0" u="none" strike="noStrike">
                <a:solidFill>
                  <a:srgbClr val="000000"/>
                </a:solidFill>
                <a:effectLst/>
                <a:uFillTx/>
                <a:latin typeface="Arial"/>
              </a:rPr>
              <a:t> </a:t>
            </a:r>
            <a:r>
              <a:rPr lang="es-MX" sz="1400" b="0" u="none" strike="noStrike">
                <a:solidFill>
                  <a:srgbClr val="000000"/>
                </a:solidFill>
                <a:effectLst/>
                <a:uFillTx/>
                <a:latin typeface="Arial"/>
              </a:rPr>
              <a:t>f</a:t>
            </a:r>
            <a:r>
              <a:rPr lang="es-MX" sz="1400" b="0" u="none" strike="noStrike">
                <a:solidFill>
                  <a:srgbClr val="000000"/>
                </a:solidFill>
                <a:effectLst/>
                <a:uFillTx/>
                <a:latin typeface="Arial"/>
              </a:rPr>
              <a:t>o</a:t>
            </a:r>
            <a:r>
              <a:rPr lang="es-MX" sz="1400" b="0" u="none" strike="noStrike">
                <a:solidFill>
                  <a:srgbClr val="000000"/>
                </a:solidFill>
                <a:effectLst/>
                <a:uFillTx/>
                <a:latin typeface="Arial"/>
              </a:rPr>
              <a:t>r</a:t>
            </a:r>
            <a:r>
              <a:rPr lang="es-MX" sz="1400" b="0" u="none" strike="noStrike">
                <a:solidFill>
                  <a:srgbClr val="000000"/>
                </a:solidFill>
                <a:effectLst/>
                <a:uFillTx/>
                <a:latin typeface="Arial"/>
              </a:rPr>
              <a:t>m</a:t>
            </a:r>
            <a:r>
              <a:rPr lang="es-MX" sz="1400" b="0" u="none" strike="noStrike">
                <a:solidFill>
                  <a:srgbClr val="000000"/>
                </a:solidFill>
                <a:effectLst/>
                <a:uFillTx/>
                <a:latin typeface="Arial"/>
              </a:rPr>
              <a:t>a</a:t>
            </a:r>
            <a:r>
              <a:rPr lang="es-MX" sz="1400" b="0" u="none" strike="noStrike">
                <a:solidFill>
                  <a:srgbClr val="000000"/>
                </a:solidFill>
                <a:effectLst/>
                <a:uFillTx/>
                <a:latin typeface="Arial"/>
              </a:rPr>
              <a:t>t</a:t>
            </a:r>
            <a:endParaRPr lang="es-MX" sz="1400" b="0" u="none" strike="noStrike">
              <a:solidFill>
                <a:srgbClr val="000000"/>
              </a:solidFill>
              <a:effectLst/>
              <a:uFillTx/>
              <a:latin typeface="Arial"/>
            </a:endParaRPr>
          </a:p>
        </p:txBody>
      </p:sp>
      <p:sp>
        <p:nvSpPr>
          <p:cNvPr id="4" name="PlaceHolder 2"/>
          <p:cNvSpPr>
            <a:spLocks noGrp="1"/>
          </p:cNvSpPr>
          <p:nvPr>
            <p:ph type="body"/>
          </p:nvPr>
        </p:nvSpPr>
        <p:spPr>
          <a:xfrm>
            <a:off x="1513440" y="10015920"/>
            <a:ext cx="27247320" cy="2482560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Fifth Outline Level</a:t>
            </a:r>
            <a:endParaRPr lang="es-MX"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Sixth Outline Level</a:t>
            </a:r>
            <a:endParaRPr lang="es-MX"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Seventh Outline Level</a:t>
            </a:r>
            <a:endParaRPr lang="es-MX"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 name="Imagen 2"/>
          <p:cNvPicPr/>
          <p:nvPr/>
        </p:nvPicPr>
        <p:blipFill>
          <a:blip r:embed="rId2"/>
          <a:stretch/>
        </p:blipFill>
        <p:spPr>
          <a:xfrm>
            <a:off x="60120" y="0"/>
            <a:ext cx="30154680" cy="4280328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51"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emf"/><Relationship Id="rId4" Type="http://schemas.openxmlformats.org/officeDocument/2006/relationships/image" Target="../media/image6.emf"/><Relationship Id="rId5" Type="http://schemas.openxmlformats.org/officeDocument/2006/relationships/image" Target="../media/image7.emf"/><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emf"/><Relationship Id="rId10" Type="http://schemas.openxmlformats.org/officeDocument/2006/relationships/image" Target="../media/image12.emf"/><Relationship Id="rId1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
          <p:cNvSpPr/>
          <p:nvPr/>
        </p:nvSpPr>
        <p:spPr>
          <a:xfrm>
            <a:off x="1953000" y="2332440"/>
            <a:ext cx="3224520" cy="3226680"/>
          </a:xfrm>
          <a:custGeom>
            <a:avLst/>
            <a:gdLst/>
            <a:ahLst/>
            <a:rect l="0" t="0" r="r" b="b"/>
            <a:pathLst>
              <a:path w="8957" h="8963">
                <a:moveTo>
                  <a:pt x="5015" y="0"/>
                </a:moveTo>
                <a:cubicBezTo>
                  <a:pt x="5623" y="70"/>
                  <a:pt x="6212" y="265"/>
                  <a:pt x="6745" y="572"/>
                </a:cubicBezTo>
                <a:cubicBezTo>
                  <a:pt x="7428" y="967"/>
                  <a:pt x="7996" y="1535"/>
                  <a:pt x="8391" y="2218"/>
                </a:cubicBezTo>
                <a:cubicBezTo>
                  <a:pt x="8690" y="2737"/>
                  <a:pt x="8882" y="3309"/>
                  <a:pt x="8957" y="3899"/>
                </a:cubicBezTo>
                <a:lnTo>
                  <a:pt x="8957" y="5034"/>
                </a:lnTo>
                <a:cubicBezTo>
                  <a:pt x="8882" y="5624"/>
                  <a:pt x="8690" y="6196"/>
                  <a:pt x="8391" y="6715"/>
                </a:cubicBezTo>
                <a:cubicBezTo>
                  <a:pt x="7996" y="7398"/>
                  <a:pt x="7428" y="7966"/>
                  <a:pt x="6745" y="8361"/>
                </a:cubicBezTo>
                <a:cubicBezTo>
                  <a:pt x="6061" y="8755"/>
                  <a:pt x="5286" y="8963"/>
                  <a:pt x="4497" y="8963"/>
                </a:cubicBezTo>
                <a:cubicBezTo>
                  <a:pt x="3707" y="8963"/>
                  <a:pt x="2932" y="8755"/>
                  <a:pt x="2248" y="8361"/>
                </a:cubicBezTo>
                <a:cubicBezTo>
                  <a:pt x="1565" y="7966"/>
                  <a:pt x="997" y="7398"/>
                  <a:pt x="602" y="6715"/>
                </a:cubicBezTo>
                <a:cubicBezTo>
                  <a:pt x="208" y="6031"/>
                  <a:pt x="0" y="5256"/>
                  <a:pt x="0" y="4467"/>
                </a:cubicBezTo>
                <a:cubicBezTo>
                  <a:pt x="0" y="3677"/>
                  <a:pt x="208" y="2902"/>
                  <a:pt x="602" y="2218"/>
                </a:cubicBezTo>
                <a:cubicBezTo>
                  <a:pt x="997" y="1535"/>
                  <a:pt x="1565" y="967"/>
                  <a:pt x="2248" y="572"/>
                </a:cubicBezTo>
                <a:cubicBezTo>
                  <a:pt x="2781" y="265"/>
                  <a:pt x="3370" y="70"/>
                  <a:pt x="3978" y="0"/>
                </a:cubicBezTo>
                <a:lnTo>
                  <a:pt x="5015" y="0"/>
                </a:lnTo>
                <a:close/>
              </a:path>
            </a:pathLst>
          </a:custGeom>
          <a:blipFill rotWithShape="0">
            <a:blip r:embed="rId1"/>
            <a:stretch/>
          </a:blipFill>
          <a:ln w="0">
            <a:solidFill>
              <a:srgbClr val="000000"/>
            </a:solidFill>
          </a:ln>
        </p:spPr>
        <p:txBody>
          <a:bodyPr lIns="90000" tIns="45000" rIns="90000" bIns="45000" anchor="ctr" anchorCtr="1">
            <a:noAutofit/>
          </a:bodyPr>
          <a:p>
            <a:endParaRPr lang="en-GB" sz="1800" b="0" u="none" strike="noStrike">
              <a:solidFill>
                <a:srgbClr val="000000"/>
              </a:solidFill>
              <a:effectLst/>
              <a:uFillTx/>
              <a:latin typeface="Arial"/>
            </a:endParaRPr>
          </a:p>
        </p:txBody>
      </p:sp>
      <p:sp>
        <p:nvSpPr>
          <p:cNvPr id="9" name=""/>
          <p:cNvSpPr/>
          <p:nvPr/>
        </p:nvSpPr>
        <p:spPr>
          <a:xfrm>
            <a:off x="5943600" y="2491200"/>
            <a:ext cx="18745200" cy="2971800"/>
          </a:xfrm>
          <a:prstGeom prst="rect">
            <a:avLst/>
          </a:prstGeom>
          <a:solidFill>
            <a:srgbClr val="FFFFFF"/>
          </a:solidFill>
          <a:ln w="0">
            <a:solidFill>
              <a:srgbClr val="FFFFFF"/>
            </a:solidFill>
          </a:ln>
        </p:spPr>
        <p:style>
          <a:lnRef idx="0"/>
          <a:fillRef idx="0"/>
          <a:effectRef idx="0"/>
          <a:fontRef idx="minor"/>
        </p:style>
        <p:txBody>
          <a:bodyPr lIns="90000" tIns="45000" rIns="90000" bIns="45000" anchor="ctr">
            <a:noAutofit/>
          </a:bodyPr>
          <a:p>
            <a:r>
              <a:rPr lang="en-GB" sz="6000" b="1" u="none" strike="noStrike">
                <a:solidFill>
                  <a:srgbClr val="000000"/>
                </a:solidFill>
                <a:effectLst/>
                <a:uFillTx/>
                <a:latin typeface="QTBookmann"/>
              </a:rPr>
              <a:t>Genetic Algorithm Search for Stable Vacua in Type IIB String Theory: A Computational Approach</a:t>
            </a:r>
            <a:endParaRPr lang="en-GB" sz="6000" b="1" u="none" strike="noStrike">
              <a:solidFill>
                <a:srgbClr val="000000"/>
              </a:solidFill>
              <a:effectLst/>
              <a:uFillTx/>
              <a:latin typeface="QTBookmann"/>
            </a:endParaRPr>
          </a:p>
        </p:txBody>
      </p:sp>
      <p:sp>
        <p:nvSpPr>
          <p:cNvPr id="10" name=""/>
          <p:cNvSpPr/>
          <p:nvPr/>
        </p:nvSpPr>
        <p:spPr>
          <a:xfrm>
            <a:off x="25025400" y="3033000"/>
            <a:ext cx="3237120" cy="1828800"/>
          </a:xfrm>
          <a:prstGeom prst="roundRect">
            <a:avLst>
              <a:gd name="adj" fmla="val 34127"/>
            </a:avLst>
          </a:prstGeom>
          <a:solidFill>
            <a:srgbClr val="F2CBF8"/>
          </a:solidFill>
          <a:ln w="0">
            <a:solidFill>
              <a:srgbClr val="FFFFFF"/>
            </a:solidFill>
          </a:ln>
        </p:spPr>
        <p:style>
          <a:lnRef idx="0"/>
          <a:fillRef idx="0"/>
          <a:effectRef idx="0"/>
          <a:fontRef idx="minor"/>
        </p:style>
        <p:txBody>
          <a:bodyPr lIns="90000" tIns="45000" rIns="90000" bIns="45000" anchor="ctr">
            <a:noAutofit/>
          </a:bodyPr>
          <a:p>
            <a:pPr algn="ctr"/>
            <a:r>
              <a:rPr lang="en-GB" sz="6000" b="0" u="none" strike="noStrike">
                <a:solidFill>
                  <a:srgbClr val="000000"/>
                </a:solidFill>
                <a:effectLst/>
                <a:uFillTx/>
                <a:latin typeface="QTBookmann"/>
              </a:rPr>
              <a:t>74</a:t>
            </a:r>
            <a:endParaRPr lang="en-GB" sz="6000" b="0" u="none" strike="noStrike">
              <a:solidFill>
                <a:srgbClr val="000000"/>
              </a:solidFill>
              <a:effectLst/>
              <a:uFillTx/>
              <a:latin typeface="QTBookmann"/>
            </a:endParaRPr>
          </a:p>
        </p:txBody>
      </p:sp>
      <p:sp>
        <p:nvSpPr>
          <p:cNvPr id="11" name=""/>
          <p:cNvSpPr/>
          <p:nvPr/>
        </p:nvSpPr>
        <p:spPr>
          <a:xfrm>
            <a:off x="1650600" y="6174000"/>
            <a:ext cx="17094600" cy="1828800"/>
          </a:xfrm>
          <a:prstGeom prst="rect">
            <a:avLst/>
          </a:prstGeom>
          <a:solidFill>
            <a:srgbClr val="FFFFFF"/>
          </a:solidFill>
          <a:ln cap="rnd" w="12600">
            <a:solidFill>
              <a:srgbClr val="63BBEE"/>
            </a:solidFill>
            <a:prstDash val="dot"/>
            <a:round/>
          </a:ln>
        </p:spPr>
        <p:style>
          <a:lnRef idx="0"/>
          <a:fillRef idx="0"/>
          <a:effectRef idx="0"/>
          <a:fontRef idx="minor"/>
        </p:style>
        <p:txBody>
          <a:bodyPr lIns="96120" tIns="51120" rIns="96120" bIns="51120" anchor="ctr">
            <a:noAutofit/>
          </a:bodyPr>
          <a:p>
            <a:r>
              <a:rPr lang="en-GB" sz="4000" b="0" u="none" strike="noStrike">
                <a:solidFill>
                  <a:srgbClr val="000000"/>
                </a:solidFill>
                <a:effectLst/>
                <a:uFillTx/>
                <a:latin typeface="QTBookmann"/>
                <a:ea typeface="PixelMplus10"/>
              </a:rPr>
              <a:t>Brandon Marquez-Salazar¹ ┃ Cesar Damian¹ </a:t>
            </a:r>
            <a:r>
              <a:rPr lang="en-GB" sz="4000" b="0" u="none" strike="noStrike">
                <a:solidFill>
                  <a:srgbClr val="000000"/>
                </a:solidFill>
                <a:effectLst/>
                <a:uFillTx/>
                <a:latin typeface="QTBookmann"/>
              </a:rPr>
              <a:t>┃ Angel Diaz-Pacheco¹</a:t>
            </a:r>
            <a:endParaRPr lang="en-GB" sz="4000" b="0" u="none" strike="noStrike">
              <a:solidFill>
                <a:srgbClr val="000000"/>
              </a:solidFill>
              <a:effectLst/>
              <a:uFillTx/>
              <a:latin typeface="QTBookmann"/>
            </a:endParaRPr>
          </a:p>
          <a:p>
            <a:endParaRPr lang="en-GB" sz="2100" b="0" u="none" strike="noStrike">
              <a:solidFill>
                <a:srgbClr val="000000"/>
              </a:solidFill>
              <a:effectLst/>
              <a:uFillTx/>
              <a:latin typeface="QTBookmann"/>
            </a:endParaRPr>
          </a:p>
          <a:p>
            <a:r>
              <a:rPr lang="en-GB" sz="3200" b="0" u="none" strike="noStrike">
                <a:solidFill>
                  <a:srgbClr val="000000"/>
                </a:solidFill>
                <a:effectLst/>
                <a:uFillTx/>
                <a:latin typeface="QTBookmann"/>
              </a:rPr>
              <a:t>1. Universidad de Guanajuato</a:t>
            </a:r>
            <a:endParaRPr lang="en-GB" sz="3200" b="0" u="none" strike="noStrike">
              <a:solidFill>
                <a:srgbClr val="000000"/>
              </a:solidFill>
              <a:effectLst/>
              <a:uFillTx/>
              <a:latin typeface="QTBookmann"/>
            </a:endParaRPr>
          </a:p>
        </p:txBody>
      </p:sp>
      <p:pic>
        <p:nvPicPr>
          <p:cNvPr id="12" name=""/>
          <p:cNvPicPr/>
          <p:nvPr/>
        </p:nvPicPr>
        <p:blipFill>
          <a:blip r:embed="rId2"/>
          <a:stretch/>
        </p:blipFill>
        <p:spPr>
          <a:xfrm>
            <a:off x="18754200" y="5971680"/>
            <a:ext cx="10278000" cy="2103120"/>
          </a:xfrm>
          <a:prstGeom prst="rect">
            <a:avLst/>
          </a:prstGeom>
          <a:noFill/>
          <a:ln w="0">
            <a:noFill/>
          </a:ln>
        </p:spPr>
      </p:pic>
      <p:sp>
        <p:nvSpPr>
          <p:cNvPr id="13" name=""/>
          <p:cNvSpPr/>
          <p:nvPr/>
        </p:nvSpPr>
        <p:spPr>
          <a:xfrm>
            <a:off x="1828800" y="8568000"/>
            <a:ext cx="26517600" cy="3657600"/>
          </a:xfrm>
          <a:prstGeom prst="rect">
            <a:avLst/>
          </a:prstGeom>
          <a:solidFill>
            <a:srgbClr val="EEF4E6"/>
          </a:solidFill>
          <a:ln w="0">
            <a:solidFill>
              <a:srgbClr val="106802">
                <a:alpha val="10000"/>
              </a:srgbClr>
            </a:solidFill>
          </a:ln>
        </p:spPr>
        <p:style>
          <a:lnRef idx="0"/>
          <a:fillRef idx="0"/>
          <a:effectRef idx="0"/>
          <a:fontRef idx="minor"/>
        </p:style>
        <p:txBody>
          <a:bodyPr lIns="90000" tIns="45000" rIns="90000" bIns="45000" anchor="ctr" anchorCtr="1">
            <a:noAutofit/>
          </a:bodyPr>
          <a:p>
            <a:pPr algn="ctr"/>
            <a:r>
              <a:rPr lang="en-GB" sz="3400" b="1" u="none" strike="noStrike">
                <a:solidFill>
                  <a:srgbClr val="000000"/>
                </a:solidFill>
                <a:effectLst/>
                <a:uFillTx/>
                <a:latin typeface="QTBookmann"/>
              </a:rPr>
              <a:t>ABSTRACT</a:t>
            </a:r>
            <a:endParaRPr lang="en-GB" sz="3400" b="1" u="none" strike="noStrike">
              <a:solidFill>
                <a:srgbClr val="000000"/>
              </a:solidFill>
              <a:effectLst/>
              <a:uFillTx/>
              <a:latin typeface="QTBookmann"/>
            </a:endParaRPr>
          </a:p>
          <a:p>
            <a:pPr algn="ctr"/>
            <a:endParaRPr lang="en-GB" sz="2100" b="1" u="none" strike="noStrike">
              <a:solidFill>
                <a:srgbClr val="000000"/>
              </a:solidFill>
              <a:effectLst/>
              <a:uFillTx/>
              <a:latin typeface="QTBookmann"/>
            </a:endParaRPr>
          </a:p>
          <a:p>
            <a:pPr algn="just"/>
            <a:r>
              <a:rPr lang="en-GB" sz="3400" b="0" u="none" strike="noStrike">
                <a:solidFill>
                  <a:srgbClr val="000000"/>
                </a:solidFill>
                <a:effectLst/>
                <a:uFillTx/>
                <a:latin typeface="QTBookmann"/>
              </a:rPr>
              <a:t>The exploration of high-dimensional, non-linear potential landscapes is a central computational challenge.</a:t>
            </a:r>
            <a:endParaRPr lang="en-GB" sz="3400" b="1" u="none" strike="noStrike">
              <a:solidFill>
                <a:srgbClr val="000000"/>
              </a:solidFill>
              <a:effectLst/>
              <a:uFillTx/>
              <a:latin typeface="QTBookmann"/>
            </a:endParaRPr>
          </a:p>
          <a:p>
            <a:pPr algn="just">
              <a:lnSpc>
                <a:spcPct val="100000"/>
              </a:lnSpc>
            </a:pPr>
            <a:r>
              <a:rPr lang="en-GB" sz="3400" b="0" u="none" strike="noStrike">
                <a:solidFill>
                  <a:srgbClr val="000000"/>
                </a:solidFill>
                <a:effectLst/>
                <a:uFillTx/>
                <a:latin typeface="QTBookmann"/>
              </a:rPr>
              <a:t>In string theory the search for stable vacua can be treated as an optimisation problem in order to include metaheuristic algorithms.</a:t>
            </a:r>
            <a:endParaRPr lang="en-GB" sz="3400" b="1" u="none" strike="noStrike">
              <a:solidFill>
                <a:srgbClr val="000000"/>
              </a:solidFill>
              <a:effectLst/>
              <a:uFillTx/>
              <a:latin typeface="QTBookmann"/>
            </a:endParaRPr>
          </a:p>
          <a:p>
            <a:pPr algn="just"/>
            <a:r>
              <a:rPr lang="en-GB" sz="3400" b="0" u="none" strike="noStrike">
                <a:solidFill>
                  <a:srgbClr val="000000"/>
                </a:solidFill>
                <a:effectLst/>
                <a:uFillTx/>
                <a:latin typeface="QTBookmann"/>
              </a:rPr>
              <a:t>In this work, a simple Genetic Algorithm (GA) is tailored to the optimisation of a type IIB string theory potential with torsion, extending the analysis of a previous work.</a:t>
            </a:r>
            <a:endParaRPr lang="en-GB" sz="3400" b="1" u="none" strike="noStrike">
              <a:solidFill>
                <a:srgbClr val="000000"/>
              </a:solidFill>
              <a:effectLst/>
              <a:uFillTx/>
              <a:latin typeface="QTBookmann"/>
            </a:endParaRPr>
          </a:p>
        </p:txBody>
      </p:sp>
      <p:sp>
        <p:nvSpPr>
          <p:cNvPr id="14" name=""/>
          <p:cNvSpPr/>
          <p:nvPr/>
        </p:nvSpPr>
        <p:spPr>
          <a:xfrm>
            <a:off x="1828800" y="12515400"/>
            <a:ext cx="13030200" cy="4114800"/>
          </a:xfrm>
          <a:prstGeom prst="rect">
            <a:avLst/>
          </a:prstGeom>
          <a:solidFill>
            <a:srgbClr val="F9EFE5"/>
          </a:solidFill>
          <a:ln w="0">
            <a:solidFill>
              <a:srgbClr val="F09E6F">
                <a:alpha val="10000"/>
              </a:srgbClr>
            </a:solidFill>
          </a:ln>
        </p:spPr>
        <p:style>
          <a:lnRef idx="0"/>
          <a:fillRef idx="0"/>
          <a:effectRef idx="0"/>
          <a:fontRef idx="minor"/>
        </p:style>
        <p:txBody>
          <a:bodyPr lIns="90000" tIns="45000" rIns="90000" bIns="45000" anchor="ctr">
            <a:noAutofit/>
          </a:bodyPr>
          <a:p>
            <a:pPr algn="ctr">
              <a:lnSpc>
                <a:spcPct val="100000"/>
              </a:lnSpc>
            </a:pPr>
            <a:r>
              <a:rPr lang="en-GB" sz="3400" b="1" u="none" strike="noStrike">
                <a:solidFill>
                  <a:srgbClr val="000000"/>
                </a:solidFill>
                <a:effectLst/>
                <a:uFillTx/>
                <a:latin typeface="QTBookmann"/>
              </a:rPr>
              <a:t>OBJECTIVE</a:t>
            </a:r>
            <a:endParaRPr lang="en-GB" sz="3400" b="0" u="none" strike="noStrike">
              <a:solidFill>
                <a:srgbClr val="000000"/>
              </a:solidFill>
              <a:effectLst/>
              <a:uFillTx/>
              <a:latin typeface="Arial"/>
            </a:endParaRPr>
          </a:p>
          <a:p>
            <a:pPr algn="ctr">
              <a:lnSpc>
                <a:spcPct val="100000"/>
              </a:lnSpc>
            </a:pPr>
            <a:endParaRPr lang="en-GB" sz="2100" b="0" u="none" strike="noStrike">
              <a:solidFill>
                <a:srgbClr val="000000"/>
              </a:solidFill>
              <a:effectLst/>
              <a:uFillTx/>
              <a:latin typeface="Arial"/>
            </a:endParaRPr>
          </a:p>
          <a:p>
            <a:pPr algn="just">
              <a:lnSpc>
                <a:spcPct val="100000"/>
              </a:lnSpc>
            </a:pPr>
            <a:r>
              <a:rPr lang="en-GB" sz="3400" b="0" u="none" strike="noStrike">
                <a:solidFill>
                  <a:srgbClr val="000000"/>
                </a:solidFill>
                <a:effectLst/>
                <a:uFillTx/>
                <a:latin typeface="QTBookmann"/>
              </a:rPr>
              <a:t>Extending previous work done in  using GA instead of Simulate Annealing. This approach aims to use a poblation based algorithm instead of a single-point based like the original for further exploration and thus, further finding of stable configurations.</a:t>
            </a:r>
            <a:endParaRPr lang="en-GB" sz="3400" b="0" u="none" strike="noStrike">
              <a:solidFill>
                <a:srgbClr val="000000"/>
              </a:solidFill>
              <a:effectLst/>
              <a:uFillTx/>
              <a:latin typeface="Arial"/>
            </a:endParaRPr>
          </a:p>
        </p:txBody>
      </p:sp>
      <p:sp>
        <p:nvSpPr>
          <p:cNvPr id="15" name=""/>
          <p:cNvSpPr/>
          <p:nvPr/>
        </p:nvSpPr>
        <p:spPr>
          <a:xfrm>
            <a:off x="1828800" y="17087400"/>
            <a:ext cx="13030200" cy="6760800"/>
          </a:xfrm>
          <a:prstGeom prst="rect">
            <a:avLst/>
          </a:prstGeom>
          <a:solidFill>
            <a:srgbClr val="FDF9E9"/>
          </a:solidFill>
          <a:ln w="0">
            <a:solidFill>
              <a:srgbClr val="C99C00">
                <a:alpha val="10000"/>
              </a:srgbClr>
            </a:solidFill>
          </a:ln>
        </p:spPr>
        <p:style>
          <a:lnRef idx="0"/>
          <a:fillRef idx="0"/>
          <a:effectRef idx="0"/>
          <a:fontRef idx="minor"/>
        </p:style>
        <p:txBody>
          <a:bodyPr lIns="90000" tIns="45000" rIns="90000" bIns="45000" anchor="ctr">
            <a:noAutofit/>
          </a:bodyPr>
          <a:p>
            <a:pPr algn="ctr"/>
            <a:r>
              <a:rPr lang="en-GB" sz="3400" b="1" u="none" strike="noStrike">
                <a:solidFill>
                  <a:srgbClr val="000000"/>
                </a:solidFill>
                <a:effectLst/>
                <a:uFillTx/>
                <a:latin typeface="QTBookmann"/>
              </a:rPr>
              <a:t>INTRODUCTION</a:t>
            </a:r>
            <a:endParaRPr lang="en-GB" sz="3400" b="0" u="none" strike="noStrike">
              <a:solidFill>
                <a:srgbClr val="000000"/>
              </a:solidFill>
              <a:effectLst/>
              <a:uFillTx/>
              <a:latin typeface="QTBookmann"/>
            </a:endParaRPr>
          </a:p>
          <a:p>
            <a:pPr algn="ctr"/>
            <a:endParaRPr lang="en-GB" sz="2100" b="0" u="none" strike="noStrike">
              <a:solidFill>
                <a:srgbClr val="000000"/>
              </a:solidFill>
              <a:effectLst/>
              <a:uFillTx/>
              <a:latin typeface="QTBookmann"/>
            </a:endParaRPr>
          </a:p>
          <a:p>
            <a:pPr algn="just"/>
            <a:r>
              <a:rPr lang="en-GB" sz="3400" b="0" u="none" strike="noStrike">
                <a:solidFill>
                  <a:srgbClr val="000000"/>
                </a:solidFill>
                <a:effectLst/>
                <a:uFillTx/>
                <a:latin typeface="QTBookmann"/>
              </a:rPr>
              <a:t>The application of computational intelligence to string theory has grown steadily over the past decade, with metaheuristics playing an increasingly central role in navigating the enormous space of possible vacuum configurations.</a:t>
            </a:r>
            <a:endParaRPr lang="en-GB" sz="3400" b="0" u="none" strike="noStrike">
              <a:solidFill>
                <a:srgbClr val="000000"/>
              </a:solidFill>
              <a:effectLst/>
              <a:uFillTx/>
              <a:latin typeface="QTBookmann"/>
            </a:endParaRPr>
          </a:p>
          <a:p>
            <a:pPr algn="just"/>
            <a:r>
              <a:rPr lang="en-GB" sz="3400" b="0" u="none" strike="noStrike">
                <a:solidFill>
                  <a:srgbClr val="000000"/>
                </a:solidFill>
                <a:effectLst/>
                <a:uFillTx/>
                <a:latin typeface="QTBookmann"/>
              </a:rPr>
              <a:t>In previous works GAs demonstrated being useful for vacua search in the field of string theory, searching configurations in less time and with less resources than using brute force and discovering new stable vacua configurations.</a:t>
            </a:r>
            <a:endParaRPr lang="en-GB" sz="3400" b="0" u="none" strike="noStrike">
              <a:solidFill>
                <a:srgbClr val="000000"/>
              </a:solidFill>
              <a:effectLst/>
              <a:uFillTx/>
              <a:latin typeface="QTBookmann"/>
            </a:endParaRPr>
          </a:p>
        </p:txBody>
      </p:sp>
      <p:grpSp>
        <p:nvGrpSpPr>
          <p:cNvPr id="16" name=""/>
          <p:cNvGrpSpPr/>
          <p:nvPr/>
        </p:nvGrpSpPr>
        <p:grpSpPr>
          <a:xfrm>
            <a:off x="1828800" y="24305400"/>
            <a:ext cx="13030200" cy="12801600"/>
            <a:chOff x="1828800" y="24305400"/>
            <a:chExt cx="13030200" cy="12801600"/>
          </a:xfrm>
        </p:grpSpPr>
        <p:sp>
          <p:nvSpPr>
            <p:cNvPr id="17" name=""/>
            <p:cNvSpPr/>
            <p:nvPr/>
          </p:nvSpPr>
          <p:spPr>
            <a:xfrm>
              <a:off x="1828800" y="24305400"/>
              <a:ext cx="13030200" cy="12801600"/>
            </a:xfrm>
            <a:prstGeom prst="rect">
              <a:avLst/>
            </a:prstGeom>
            <a:solidFill>
              <a:srgbClr val="F2EBF8"/>
            </a:solidFill>
            <a:ln w="0">
              <a:solidFill>
                <a:srgbClr val="3465A4">
                  <a:alpha val="10000"/>
                </a:srgbClr>
              </a:solidFill>
            </a:ln>
          </p:spPr>
          <p:style>
            <a:lnRef idx="0"/>
            <a:fillRef idx="0"/>
            <a:effectRef idx="0"/>
            <a:fontRef idx="minor"/>
          </p:style>
          <p:txBody>
            <a:bodyPr lIns="90000" tIns="45000" rIns="90000" bIns="45000" anchor="ctr">
              <a:noAutofit/>
            </a:bodyPr>
            <a:p>
              <a:pPr algn="ctr"/>
              <a:r>
                <a:rPr lang="en-GB" sz="3600" b="1" u="none" strike="noStrike">
                  <a:solidFill>
                    <a:srgbClr val="000000"/>
                  </a:solidFill>
                  <a:effectLst/>
                  <a:uFillTx/>
                  <a:latin typeface="QTBookmann"/>
                </a:rPr>
                <a:t>METHODOLOGY</a:t>
              </a:r>
              <a:endParaRPr lang="en-GB" sz="3600" b="0" u="none" strike="noStrike">
                <a:solidFill>
                  <a:srgbClr val="000000"/>
                </a:solidFill>
                <a:effectLst/>
                <a:uFillTx/>
                <a:latin typeface="QTBookmann"/>
              </a:endParaRPr>
            </a:p>
            <a:p>
              <a:pPr algn="ctr"/>
              <a:endParaRPr lang="en-GB" sz="2100" b="0" u="none" strike="noStrike">
                <a:solidFill>
                  <a:srgbClr val="000000"/>
                </a:solidFill>
                <a:effectLst/>
                <a:uFillTx/>
                <a:latin typeface="QTBookmann"/>
              </a:endParaRPr>
            </a:p>
            <a:p>
              <a:pPr algn="just"/>
              <a:r>
                <a:rPr lang="en-GB" sz="3600" b="0" u="none" strike="noStrike">
                  <a:solidFill>
                    <a:srgbClr val="000000"/>
                  </a:solidFill>
                  <a:effectLst/>
                  <a:uFillTx/>
                  <a:latin typeface="QTBookmann"/>
                </a:rPr>
                <a:t>This study implements 4 penalisation elements in a fitness function which is intended to be minimised.</a:t>
              </a:r>
              <a:endParaRPr lang="en-GB" sz="3600" b="0" u="none" strike="noStrike">
                <a:solidFill>
                  <a:srgbClr val="000000"/>
                </a:solidFill>
                <a:effectLst/>
                <a:uFillTx/>
                <a:latin typeface="QTBookmann"/>
              </a:endParaRPr>
            </a:p>
            <a:p>
              <a:pPr algn="just"/>
              <a:r>
                <a:rPr lang="en-GB" sz="3600" b="0" u="none" strike="noStrike">
                  <a:solidFill>
                    <a:srgbClr val="000000"/>
                  </a:solidFill>
                  <a:effectLst/>
                  <a:uFillTx/>
                  <a:latin typeface="QTBookmann"/>
                </a:rPr>
                <a:t>The penalisation elements are </a:t>
              </a:r>
              <a:r>
                <a:rPr lang="en-GB" sz="3600" b="0" i="1" u="none" strike="noStrike">
                  <a:solidFill>
                    <a:srgbClr val="000000"/>
                  </a:solidFill>
                  <a:effectLst/>
                  <a:uFillTx/>
                  <a:latin typeface="QTBookmann"/>
                </a:rPr>
                <a:t>descriptors </a:t>
              </a:r>
              <a:r>
                <a:rPr lang="en-GB" sz="3600" b="0" u="none" strike="noStrike">
                  <a:solidFill>
                    <a:srgbClr val="000000"/>
                  </a:solidFill>
                  <a:effectLst/>
                  <a:uFillTx/>
                  <a:latin typeface="QTBookmann"/>
                </a:rPr>
                <a:t>from the potential effective function</a:t>
              </a:r>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r>
                <a:rPr lang="en-GB" sz="3600" b="0" u="none" strike="noStrike">
                  <a:solidFill>
                    <a:srgbClr val="000000"/>
                  </a:solidFill>
                  <a:effectLst/>
                  <a:uFillTx/>
                  <a:latin typeface="QTBookmann"/>
                </a:rPr>
                <a:t>The descriptors are</a:t>
              </a:r>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endParaRPr lang="en-GB" sz="3600" b="0" u="none" strike="noStrike">
                <a:solidFill>
                  <a:srgbClr val="000000"/>
                </a:solidFill>
                <a:effectLst/>
                <a:uFillTx/>
                <a:latin typeface="QTBookmann"/>
              </a:endParaRPr>
            </a:p>
            <a:p>
              <a:pPr algn="just"/>
              <a:r>
                <a:rPr lang="en-GB" sz="3600" b="0" u="none" strike="noStrike">
                  <a:solidFill>
                    <a:srgbClr val="000000"/>
                  </a:solidFill>
                  <a:effectLst/>
                  <a:uFillTx/>
                  <a:latin typeface="QTBookmann"/>
                </a:rPr>
                <a:t>For a basic GA from MEALPY modulus and collect the results.</a:t>
              </a:r>
              <a:endParaRPr lang="en-GB" sz="3600" b="0" u="none" strike="noStrike">
                <a:solidFill>
                  <a:srgbClr val="000000"/>
                </a:solidFill>
                <a:effectLst/>
                <a:uFillTx/>
                <a:latin typeface="QTBookmann"/>
              </a:endParaRPr>
            </a:p>
            <a:p>
              <a:pPr algn="just"/>
              <a:r>
                <a:rPr lang="en-GB" sz="3600" b="0" u="none" strike="noStrike">
                  <a:solidFill>
                    <a:srgbClr val="000000"/>
                  </a:solidFill>
                  <a:effectLst/>
                  <a:uFillTx/>
                  <a:latin typeface="QTBookmann"/>
                </a:rPr>
                <a:t>Finally, a </a:t>
              </a:r>
              <a:r>
                <a:rPr lang="en-GB" sz="3600" b="1" u="none" strike="noStrike">
                  <a:solidFill>
                    <a:srgbClr val="000000"/>
                  </a:solidFill>
                  <a:effectLst/>
                  <a:uFillTx/>
                  <a:latin typeface="QTBookmann"/>
                </a:rPr>
                <a:t>grid</a:t>
              </a:r>
              <a:r>
                <a:rPr lang="en-GB" sz="3600" b="0" u="none" strike="noStrike">
                  <a:solidFill>
                    <a:srgbClr val="000000"/>
                  </a:solidFill>
                  <a:effectLst/>
                  <a:uFillTx/>
                  <a:latin typeface="QTBookmann"/>
                </a:rPr>
                <a:t> search will be implemented to find a better model which is able to find higher amount of stable de Sitter vacua and the smallest fitness and potential effective values.</a:t>
              </a:r>
              <a:endParaRPr lang="en-GB" sz="3600" b="0" u="none" strike="noStrike">
                <a:solidFill>
                  <a:srgbClr val="000000"/>
                </a:solidFill>
                <a:effectLst/>
                <a:uFillTx/>
                <a:latin typeface="QTBookmann"/>
              </a:endParaRPr>
            </a:p>
          </p:txBody>
        </p:sp>
        <mc:AlternateContent>
          <mc:Choice xmlns:a14="http://schemas.microsoft.com/office/drawing/2010/main" Requires="a14">
            <p:sp>
              <p:nvSpPr>
                <p:cNvPr id="18" name=""/>
                <p:cNvSpPr txBox="1"/>
                <p:nvPr/>
              </p:nvSpPr>
              <p:spPr>
                <a:xfrm>
                  <a:off x="4343400" y="27900720"/>
                  <a:ext cx="7655760" cy="1253880"/>
                </a:xfrm>
                <a:prstGeom prst="rect">
                  <a:avLst/>
                </a:prstGeom>
              </p:spPr>
              <p:txBody>
                <a:bodyPr/>
                <a:p>
                  <a14:m>
                    <m:oMath xmlns:m="http://schemas.openxmlformats.org/officeDocument/2006/math">
                      <m:sSub>
                        <m:e>
                          <m:r>
                            <m:t xml:space="preserve">V</m:t>
                          </m:r>
                        </m:e>
                        <m:sub>
                          <m:r>
                            <m:t xml:space="preserve">eff</m:t>
                          </m:r>
                        </m:sub>
                      </m:sSub>
                      <m:r>
                        <m:t xml:space="preserve">=</m:t>
                      </m:r>
                      <m:f>
                        <m:num>
                          <m:sSub>
                            <m:e>
                              <m:r>
                                <m:t xml:space="preserve">A</m:t>
                              </m:r>
                            </m:e>
                            <m:sub>
                              <m:sSub>
                                <m:e>
                                  <m:r>
                                    <m:t xml:space="preserve">H</m:t>
                                  </m:r>
                                </m:e>
                                <m:sub>
                                  <m:r>
                                    <m:t xml:space="preserve">3</m:t>
                                  </m:r>
                                </m:sub>
                              </m:sSub>
                            </m:sub>
                          </m:sSub>
                          <m:r>
                            <m:t xml:space="preserve">s</m:t>
                          </m:r>
                        </m:num>
                        <m:den>
                          <m:sSup>
                            <m:e>
                              <m:r>
                                <m:t xml:space="preserve">τ</m:t>
                              </m:r>
                            </m:e>
                            <m:sup>
                              <m:r>
                                <m:t xml:space="preserve">3</m:t>
                              </m:r>
                            </m:sup>
                          </m:sSup>
                        </m:den>
                      </m:f>
                      <m:r>
                        <m:t xml:space="preserve">+</m:t>
                      </m:r>
                      <m:f>
                        <m:num>
                          <m:sSub>
                            <m:e>
                              <m:r>
                                <m:t xml:space="preserve">A</m:t>
                              </m:r>
                            </m:e>
                            <m:sub>
                              <m:sSub>
                                <m:e>
                                  <m:r>
                                    <m:t xml:space="preserve">F</m:t>
                                  </m:r>
                                </m:e>
                                <m:sub>
                                  <m:r>
                                    <m:t xml:space="preserve">3</m:t>
                                  </m:r>
                                </m:sub>
                              </m:sSub>
                            </m:sub>
                          </m:sSub>
                        </m:num>
                        <m:den>
                          <m:r>
                            <m:t xml:space="preserve">s</m:t>
                          </m:r>
                          <m:sSup>
                            <m:e>
                              <m:r>
                                <m:t xml:space="preserve">τ</m:t>
                              </m:r>
                            </m:e>
                            <m:sup>
                              <m:r>
                                <m:t xml:space="preserve">3</m:t>
                              </m:r>
                            </m:sup>
                          </m:sSup>
                        </m:den>
                      </m:f>
                      <m:r>
                        <m:t xml:space="preserve">+</m:t>
                      </m:r>
                      <m:f>
                        <m:num>
                          <m:sSub>
                            <m:e>
                              <m:r>
                                <m:t xml:space="preserve">A</m:t>
                              </m:r>
                            </m:e>
                            <m:sub>
                              <m:sSub>
                                <m:e>
                                  <m:r>
                                    <m:t xml:space="preserve">F</m:t>
                                  </m:r>
                                </m:e>
                                <m:sub>
                                  <m:r>
                                    <m:t xml:space="preserve">5</m:t>
                                  </m:r>
                                </m:sub>
                              </m:sSub>
                            </m:sub>
                          </m:sSub>
                        </m:num>
                        <m:den>
                          <m:sSup>
                            <m:e>
                              <m:r>
                                <m:t xml:space="preserve">τ</m:t>
                              </m:r>
                            </m:e>
                            <m:sup>
                              <m:r>
                                <m:t xml:space="preserve">4</m:t>
                              </m:r>
                            </m:sup>
                          </m:sSup>
                        </m:den>
                      </m:f>
                      <m:r>
                        <m:t xml:space="preserve">+</m:t>
                      </m:r>
                      <m:f>
                        <m:num>
                          <m:sSub>
                            <m:e>
                              <m:r>
                                <m:t xml:space="preserve">A</m:t>
                              </m:r>
                            </m:e>
                            <m:sub>
                              <m:r>
                                <m:t xml:space="preserve">3</m:t>
                              </m:r>
                            </m:sub>
                          </m:sSub>
                          <m:sSub>
                            <m:e>
                              <m:r>
                                <m:t xml:space="preserve">%N</m:t>
                              </m:r>
                            </m:e>
                            <m:sub>
                              <m:r>
                                <m:t xml:space="preserve">3</m:t>
                              </m:r>
                            </m:sub>
                          </m:sSub>
                        </m:num>
                        <m:den>
                          <m:sSup>
                            <m:e>
                              <m:r>
                                <m:t xml:space="preserve">τ</m:t>
                              </m:r>
                            </m:e>
                            <m:sup>
                              <m:r>
                                <m:t xml:space="preserve">3</m:t>
                              </m:r>
                            </m:sup>
                          </m:sSup>
                        </m:den>
                      </m:f>
                      <m:r>
                        <m:t xml:space="preserve">+</m:t>
                      </m:r>
                      <m:f>
                        <m:num>
                          <m:sSub>
                            <m:e>
                              <m:r>
                                <m:t xml:space="preserve">A</m:t>
                              </m:r>
                            </m:e>
                            <m:sub>
                              <m:acc>
                                <m:accPr>
                                  <m:chr m:val="^"/>
                                </m:accPr>
                                <m:e>
                                  <m:r>
                                    <m:t xml:space="preserve">D</m:t>
                                  </m:r>
                                </m:e>
                              </m:acc>
                              <m:r>
                                <m:t xml:space="preserve">5</m:t>
                              </m:r>
                            </m:sub>
                          </m:sSub>
                        </m:num>
                        <m:den>
                          <m:sSup>
                            <m:e>
                              <m:r>
                                <m:t xml:space="preserve">s</m:t>
                              </m:r>
                            </m:e>
                            <m:sup>
                              <m:f>
                                <m:fPr>
                                  <m:type m:val="lin"/>
                                </m:fPr>
                                <m:num>
                                  <m:r>
                                    <m:t xml:space="preserve">1</m:t>
                                  </m:r>
                                </m:num>
                                <m:den>
                                  <m:r>
                                    <m:t xml:space="preserve">2</m:t>
                                  </m:r>
                                </m:den>
                              </m:f>
                            </m:sup>
                          </m:sSup>
                          <m:sSup>
                            <m:e>
                              <m:r>
                                <m:t xml:space="preserve">τ</m:t>
                              </m:r>
                            </m:e>
                            <m:sup>
                              <m:f>
                                <m:fPr>
                                  <m:type m:val="lin"/>
                                </m:fPr>
                                <m:num>
                                  <m:r>
                                    <m:t xml:space="preserve">5</m:t>
                                  </m:r>
                                </m:num>
                                <m:den>
                                  <m:r>
                                    <m:t xml:space="preserve">2</m:t>
                                  </m:r>
                                </m:den>
                              </m:f>
                            </m:sup>
                          </m:sSup>
                        </m:den>
                      </m:f>
                    </m:oMath>
                  </a14:m>
                </a:p>
              </p:txBody>
            </p:sp>
          </mc:Choice>
          <mc:Fallback>
            <p:sp>
              <p:nvSpPr>
                <p:cNvPr id="18" name=""/>
                <p:cNvSpPr txBox="1"/>
                <p:nvPr/>
              </p:nvSpPr>
              <p:spPr>
                <a:xfrm>
                  <a:off x="4343400" y="27900720"/>
                  <a:ext cx="7655760" cy="1253880"/>
                </a:xfrm>
                <a:prstGeom prst="rect">
                  <a:avLst/>
                </a:prstGeom>
                <a:blipFill>
                  <a:blip r:embed="rId3"/>
                  <a:stretch>
                    <a:fillRect/>
                  </a:stretch>
                </a:blipFill>
              </p:spPr>
            </p:sp>
          </mc:Fallback>
        </mc:AlternateContent>
        <mc:AlternateContent>
          <mc:Choice xmlns:a14="http://schemas.microsoft.com/office/drawing/2010/main" Requires="a14">
            <p:sp>
              <p:nvSpPr>
                <p:cNvPr id="19" name=""/>
                <p:cNvSpPr txBox="1"/>
                <p:nvPr/>
              </p:nvSpPr>
              <p:spPr>
                <a:xfrm>
                  <a:off x="4343400" y="30465000"/>
                  <a:ext cx="7528320" cy="2953800"/>
                </a:xfrm>
                <a:prstGeom prst="rect">
                  <a:avLst/>
                </a:prstGeom>
              </p:spPr>
              <p:txBody>
                <a:bodyPr/>
                <a:p>
                  <a14:m>
                    <m:oMath xmlns:m="http://schemas.openxmlformats.org/officeDocument/2006/math">
                      <m:eqArr>
                        <m:e>
                          <m:sSub>
                            <m:e>
                              <m:r>
                                <m:t xml:space="preserve">f</m:t>
                              </m:r>
                            </m:e>
                            <m:sub>
                              <m:r>
                                <m:t xml:space="preserve">grad</m:t>
                              </m:r>
                            </m:sub>
                          </m:sSub>
                          <m:r>
                            <m:t xml:space="preserve">=</m:t>
                          </m:r>
                          <m:d>
                            <m:dPr>
                              <m:begChr m:val="|"/>
                              <m:endChr m:val="|"/>
                            </m:dPr>
                            <m:e>
                              <m:sSup>
                                <m:e>
                                  <m:r>
                                    <m:t xml:space="preserve">∇</m:t>
                                  </m:r>
                                  <m:sSub>
                                    <m:e>
                                      <m:r>
                                        <m:t xml:space="preserve">%V</m:t>
                                      </m:r>
                                    </m:e>
                                    <m:sub>
                                      <m:r>
                                        <m:t xml:space="preserve">eff</m:t>
                                      </m:r>
                                    </m:sub>
                                  </m:sSub>
                                </m:e>
                                <m:sup>
                                  <m:r>
                                    <m:t xml:space="preserve">2</m:t>
                                  </m:r>
                                </m:sup>
                              </m:sSup>
                            </m:e>
                          </m:d>
                        </m:e>
                        <m:e>
                          <m:sSub>
                            <m:e>
                              <m:r>
                                <m:t xml:space="preserve">p</m:t>
                              </m:r>
                            </m:e>
                            <m:sub>
                              <m:r>
                                <m:t xml:space="preserve">pos</m:t>
                              </m:r>
                            </m:sub>
                          </m:sSub>
                          <m:r>
                            <m:t xml:space="preserve">=</m:t>
                          </m:r>
                          <m:d>
                            <m:dPr>
                              <m:begChr m:val="|"/>
                              <m:endChr m:val="|"/>
                            </m:dPr>
                            <m:e>
                              <m:sSub>
                                <m:e>
                                  <m:r>
                                    <m:t xml:space="preserve">%V</m:t>
                                  </m:r>
                                </m:e>
                                <m:sub>
                                  <m:r>
                                    <m:t xml:space="preserve">eff</m:t>
                                  </m:r>
                                </m:sub>
                              </m:sSub>
                            </m:e>
                          </m:d>
                          <m:r>
                            <m:t xml:space="preserve">−</m:t>
                          </m:r>
                          <m:sSub>
                            <m:e>
                              <m:r>
                                <m:t xml:space="preserve">%V</m:t>
                              </m:r>
                            </m:e>
                            <m:sub>
                              <m:r>
                                <m:t xml:space="preserve">eff</m:t>
                              </m:r>
                            </m:sub>
                          </m:sSub>
                        </m:e>
                        <m:e>
                          <m:sSub>
                            <m:e>
                              <m:r>
                                <m:t xml:space="preserve">p</m:t>
                              </m:r>
                            </m:e>
                            <m:sub>
                              <m:r>
                                <m:t xml:space="preserve">tr</m:t>
                              </m:r>
                            </m:sub>
                          </m:sSub>
                          <m:r>
                            <m:t xml:space="preserve">=</m:t>
                          </m:r>
                          <m:d>
                            <m:dPr>
                              <m:begChr m:val="|"/>
                              <m:endChr m:val="|"/>
                            </m:dPr>
                            <m:e>
                              <m:r>
                                <m:t xml:space="preserve">tr</m:t>
                              </m:r>
                              <m:d>
                                <m:dPr>
                                  <m:begChr m:val="("/>
                                  <m:endChr m:val=")"/>
                                </m:dPr>
                                <m:e>
                                  <m:r>
                                    <m:t xml:space="preserve">H</m:t>
                                  </m:r>
                                </m:e>
                              </m:d>
                            </m:e>
                          </m:d>
                          <m:r>
                            <m:t xml:space="preserve">−</m:t>
                          </m:r>
                          <m:r>
                            <m:t xml:space="preserve">tr</m:t>
                          </m:r>
                          <m:d>
                            <m:dPr>
                              <m:begChr m:val="("/>
                              <m:endChr m:val=")"/>
                            </m:dPr>
                            <m:e>
                              <m:r>
                                <m:t xml:space="preserve">H</m:t>
                              </m:r>
                            </m:e>
                          </m:d>
                        </m:e>
                        <m:e>
                          <m:sSub>
                            <m:e>
                              <m:r>
                                <m:t xml:space="preserve">p</m:t>
                              </m:r>
                            </m:e>
                            <m:sub>
                              <m:r>
                                <m:t xml:space="preserve">disc</m:t>
                              </m:r>
                            </m:sub>
                          </m:sSub>
                          <m:r>
                            <m:t xml:space="preserve">=</m:t>
                          </m:r>
                          <m:d>
                            <m:dPr>
                              <m:begChr m:val="|"/>
                              <m:endChr m:val="|"/>
                            </m:dPr>
                            <m:e>
                              <m:r>
                                <m:t xml:space="preserve">Δ</m:t>
                              </m:r>
                            </m:e>
                          </m:d>
                          <m:r>
                            <m:t xml:space="preserve">−</m:t>
                          </m:r>
                          <m:r>
                            <m:t xml:space="preserve">Δ</m:t>
                          </m:r>
                          <m:r>
                            <m:rPr>
                              <m:lit/>
                              <m:nor/>
                            </m:rPr>
                            <m:t xml:space="preserve"> with </m:t>
                          </m:r>
                          <m:r>
                            <m:t xml:space="preserve">Δ</m:t>
                          </m:r>
                          <m:r>
                            <m:t xml:space="preserve">=</m:t>
                          </m:r>
                          <m:r>
                            <m:t xml:space="preserve">det</m:t>
                          </m:r>
                          <m:d>
                            <m:dPr>
                              <m:begChr m:val="("/>
                              <m:endChr m:val=")"/>
                            </m:dPr>
                            <m:e>
                              <m:r>
                                <m:t xml:space="preserve">H</m:t>
                              </m:r>
                            </m:e>
                          </m:d>
                          <m:r>
                            <m:t xml:space="preserve">−</m:t>
                          </m:r>
                          <m:f>
                            <m:num>
                              <m:r>
                                <m:t xml:space="preserve">1</m:t>
                              </m:r>
                            </m:num>
                            <m:den>
                              <m:r>
                                <m:t xml:space="preserve">4</m:t>
                              </m:r>
                            </m:den>
                          </m:f>
                          <m:sSup>
                            <m:e>
                              <m:d>
                                <m:dPr>
                                  <m:begChr m:val="("/>
                                  <m:endChr m:val=")"/>
                                </m:dPr>
                                <m:e>
                                  <m:r>
                                    <m:t xml:space="preserve">tr</m:t>
                                  </m:r>
                                  <m:r>
                                    <m:t xml:space="preserve">H</m:t>
                                  </m:r>
                                </m:e>
                              </m:d>
                            </m:e>
                            <m:sup>
                              <m:r>
                                <m:t xml:space="preserve">2</m:t>
                              </m:r>
                            </m:sup>
                          </m:sSup>
                        </m:e>
                      </m:eqArr>
                    </m:oMath>
                  </a14:m>
                </a:p>
              </p:txBody>
            </p:sp>
          </mc:Choice>
          <mc:Fallback>
            <p:sp>
              <p:nvSpPr>
                <p:cNvPr id="19" name=""/>
                <p:cNvSpPr txBox="1"/>
                <p:nvPr/>
              </p:nvSpPr>
              <p:spPr>
                <a:xfrm>
                  <a:off x="4343400" y="30465000"/>
                  <a:ext cx="7528320" cy="2953800"/>
                </a:xfrm>
                <a:prstGeom prst="rect">
                  <a:avLst/>
                </a:prstGeom>
                <a:blipFill>
                  <a:blip r:embed="rId4"/>
                  <a:stretch>
                    <a:fillRect/>
                  </a:stretch>
                </a:blipFill>
              </p:spPr>
            </p:sp>
          </mc:Fallback>
        </mc:AlternateContent>
      </p:grpSp>
      <p:pic>
        <p:nvPicPr>
          <p:cNvPr id="20" name=""/>
          <p:cNvPicPr/>
          <p:nvPr/>
        </p:nvPicPr>
        <p:blipFill>
          <a:blip r:embed="rId5"/>
          <a:stretch/>
        </p:blipFill>
        <p:spPr>
          <a:xfrm>
            <a:off x="15480000" y="13779000"/>
            <a:ext cx="4320000" cy="3358800"/>
          </a:xfrm>
          <a:prstGeom prst="rect">
            <a:avLst/>
          </a:prstGeom>
          <a:noFill/>
          <a:ln w="0">
            <a:noFill/>
          </a:ln>
        </p:spPr>
      </p:pic>
      <p:sp>
        <p:nvSpPr>
          <p:cNvPr id="21" name=""/>
          <p:cNvSpPr/>
          <p:nvPr/>
        </p:nvSpPr>
        <p:spPr>
          <a:xfrm>
            <a:off x="19800000" y="14007600"/>
            <a:ext cx="8280000" cy="3018600"/>
          </a:xfrm>
          <a:prstGeom prst="rect">
            <a:avLst/>
          </a:prstGeom>
          <a:solidFill>
            <a:srgbClr val="FFFFFF"/>
          </a:solidFill>
          <a:ln w="0">
            <a:solidFill>
              <a:srgbClr val="DAECE7"/>
            </a:solidFill>
          </a:ln>
        </p:spPr>
        <p:style>
          <a:lnRef idx="0"/>
          <a:fillRef idx="0"/>
          <a:effectRef idx="0"/>
          <a:fontRef idx="minor"/>
        </p:style>
        <p:txBody>
          <a:bodyPr lIns="90000" tIns="45000" rIns="90000" bIns="45000" anchor="ctr">
            <a:noAutofit/>
          </a:bodyPr>
          <a:p>
            <a:pPr algn="just">
              <a:lnSpc>
                <a:spcPct val="100000"/>
              </a:lnSpc>
            </a:pPr>
            <a:r>
              <a:rPr lang="en-GB" sz="3200" b="0" u="none" strike="noStrike">
                <a:solidFill>
                  <a:srgbClr val="000000"/>
                </a:solidFill>
                <a:effectLst/>
                <a:uFillTx/>
                <a:latin typeface="QTBookmann"/>
              </a:rPr>
              <a:t>After the search, </a:t>
            </a:r>
            <a:r>
              <a:rPr lang="en-GB" sz="3200" b="1" u="none" strike="noStrike">
                <a:solidFill>
                  <a:srgbClr val="000000"/>
                </a:solidFill>
                <a:effectLst/>
                <a:uFillTx/>
                <a:latin typeface="QTBookmann"/>
              </a:rPr>
              <a:t>11 979</a:t>
            </a:r>
            <a:r>
              <a:rPr lang="en-GB" sz="3200" b="0" u="none" strike="noStrike">
                <a:solidFill>
                  <a:srgbClr val="000000"/>
                </a:solidFill>
                <a:effectLst/>
                <a:uFillTx/>
                <a:latin typeface="QTBookmann"/>
              </a:rPr>
              <a:t> vacua were found.</a:t>
            </a:r>
            <a:endParaRPr lang="en-GB" sz="3200" b="0" u="none" strike="noStrike">
              <a:solidFill>
                <a:srgbClr val="000000"/>
              </a:solidFill>
              <a:effectLst/>
              <a:uFillTx/>
              <a:latin typeface="Arial"/>
            </a:endParaRPr>
          </a:p>
          <a:p>
            <a:pPr algn="just">
              <a:lnSpc>
                <a:spcPct val="100000"/>
              </a:lnSpc>
            </a:pPr>
            <a:endParaRPr lang="en-GB" sz="2100" b="0" u="none" strike="noStrike">
              <a:solidFill>
                <a:srgbClr val="000000"/>
              </a:solidFill>
              <a:effectLst/>
              <a:uFillTx/>
              <a:latin typeface="Arial"/>
            </a:endParaRPr>
          </a:p>
          <a:p>
            <a:pPr algn="just">
              <a:lnSpc>
                <a:spcPct val="100000"/>
              </a:lnSpc>
            </a:pPr>
            <a:r>
              <a:rPr lang="en-GB" sz="3200" b="1" u="none" strike="noStrike">
                <a:solidFill>
                  <a:srgbClr val="000000"/>
                </a:solidFill>
                <a:effectLst/>
                <a:uFillTx/>
                <a:latin typeface="QTBookmann"/>
              </a:rPr>
              <a:t> 987</a:t>
            </a:r>
            <a:r>
              <a:rPr lang="en-GB" sz="3200" b="0" u="none" strike="noStrike">
                <a:solidFill>
                  <a:srgbClr val="000000"/>
                </a:solidFill>
                <a:effectLst/>
                <a:uFillTx/>
                <a:latin typeface="QTBookmann"/>
              </a:rPr>
              <a:t>      dS stables</a:t>
            </a:r>
            <a:endParaRPr lang="en-GB" sz="3200" b="0" u="none" strike="noStrike">
              <a:solidFill>
                <a:srgbClr val="000000"/>
              </a:solidFill>
              <a:effectLst/>
              <a:uFillTx/>
              <a:latin typeface="Arial"/>
            </a:endParaRPr>
          </a:p>
          <a:p>
            <a:pPr algn="just">
              <a:lnSpc>
                <a:spcPct val="100000"/>
              </a:lnSpc>
            </a:pPr>
            <a:r>
              <a:rPr lang="en-GB" sz="3200" b="0" u="none" strike="noStrike">
                <a:solidFill>
                  <a:srgbClr val="000000"/>
                </a:solidFill>
                <a:effectLst/>
                <a:uFillTx/>
                <a:latin typeface="QTBookmann"/>
              </a:rPr>
              <a:t> </a:t>
            </a:r>
            <a:r>
              <a:rPr lang="en-GB" sz="3200" b="1" u="none" strike="noStrike">
                <a:solidFill>
                  <a:srgbClr val="000000"/>
                </a:solidFill>
                <a:effectLst/>
                <a:uFillTx/>
                <a:latin typeface="QTBookmann"/>
              </a:rPr>
              <a:t>1 345</a:t>
            </a:r>
            <a:r>
              <a:rPr lang="en-GB" sz="3200" b="0" u="none" strike="noStrike">
                <a:solidFill>
                  <a:srgbClr val="000000"/>
                </a:solidFill>
                <a:effectLst/>
                <a:uFillTx/>
                <a:latin typeface="QTBookmann"/>
              </a:rPr>
              <a:t> AdS stables</a:t>
            </a:r>
            <a:endParaRPr lang="en-GB" sz="3200" b="0" u="none" strike="noStrike">
              <a:solidFill>
                <a:srgbClr val="000000"/>
              </a:solidFill>
              <a:effectLst/>
              <a:uFillTx/>
              <a:latin typeface="Arial"/>
            </a:endParaRPr>
          </a:p>
          <a:p>
            <a:pPr algn="just">
              <a:lnSpc>
                <a:spcPct val="100000"/>
              </a:lnSpc>
            </a:pPr>
            <a:endParaRPr lang="en-GB" sz="3400" b="0" u="none" strike="noStrike">
              <a:solidFill>
                <a:srgbClr val="000000"/>
              </a:solidFill>
              <a:effectLst/>
              <a:uFillTx/>
              <a:latin typeface="Arial"/>
            </a:endParaRPr>
          </a:p>
        </p:txBody>
      </p:sp>
      <p:sp>
        <p:nvSpPr>
          <p:cNvPr id="22" name=""/>
          <p:cNvSpPr txBox="1"/>
          <p:nvPr/>
        </p:nvSpPr>
        <p:spPr>
          <a:xfrm>
            <a:off x="15472800" y="20763000"/>
            <a:ext cx="4320000" cy="3783600"/>
          </a:xfrm>
          <a:prstGeom prst="rect">
            <a:avLst/>
          </a:prstGeom>
          <a:blipFill rotWithShape="0">
            <a:blip r:embed="rId6"/>
            <a:stretch/>
          </a:blipFill>
          <a:ln w="0">
            <a:noFill/>
          </a:ln>
        </p:spPr>
        <p:txBody>
          <a:bodyPr lIns="90000" tIns="45000" rIns="90000" bIns="45000" anchor="ctr" anchorCtr="1">
            <a:noAutofit/>
          </a:bodyPr>
          <a:p>
            <a:pPr algn="ctr"/>
            <a:endParaRPr lang="es-MX" sz="1800" b="0" u="none" strike="noStrike">
              <a:solidFill>
                <a:srgbClr val="000000"/>
              </a:solidFill>
              <a:effectLst/>
              <a:uFillTx/>
              <a:latin typeface="Arial"/>
            </a:endParaRPr>
          </a:p>
          <a:p>
            <a:pPr algn="ctr"/>
            <a:endParaRPr lang="es-MX" sz="1800" b="0" u="none" strike="noStrike">
              <a:solidFill>
                <a:srgbClr val="000000"/>
              </a:solidFill>
              <a:effectLst/>
              <a:uFillTx/>
              <a:latin typeface="Arial"/>
            </a:endParaRPr>
          </a:p>
          <a:p>
            <a:pPr algn="ctr"/>
            <a:endParaRPr lang="es-MX" sz="1800" b="0" u="none" strike="noStrike">
              <a:solidFill>
                <a:srgbClr val="000000"/>
              </a:solidFill>
              <a:effectLst/>
              <a:uFillTx/>
              <a:latin typeface="Arial"/>
            </a:endParaRPr>
          </a:p>
        </p:txBody>
      </p:sp>
      <p:pic>
        <p:nvPicPr>
          <p:cNvPr id="23" name=""/>
          <p:cNvPicPr/>
          <p:nvPr/>
        </p:nvPicPr>
        <p:blipFill>
          <a:blip r:embed="rId7"/>
          <a:stretch/>
        </p:blipFill>
        <p:spPr>
          <a:xfrm>
            <a:off x="19639800" y="20764800"/>
            <a:ext cx="4320000" cy="3812400"/>
          </a:xfrm>
          <a:prstGeom prst="rect">
            <a:avLst/>
          </a:prstGeom>
          <a:noFill/>
          <a:ln w="0">
            <a:noFill/>
          </a:ln>
        </p:spPr>
      </p:pic>
      <p:pic>
        <p:nvPicPr>
          <p:cNvPr id="24" name=""/>
          <p:cNvPicPr/>
          <p:nvPr/>
        </p:nvPicPr>
        <p:blipFill>
          <a:blip r:embed="rId8"/>
          <a:stretch/>
        </p:blipFill>
        <p:spPr>
          <a:xfrm>
            <a:off x="23824800" y="20764800"/>
            <a:ext cx="4320000" cy="3841200"/>
          </a:xfrm>
          <a:prstGeom prst="rect">
            <a:avLst/>
          </a:prstGeom>
          <a:noFill/>
          <a:ln w="0">
            <a:noFill/>
          </a:ln>
        </p:spPr>
      </p:pic>
      <p:pic>
        <p:nvPicPr>
          <p:cNvPr id="25" name=""/>
          <p:cNvPicPr/>
          <p:nvPr/>
        </p:nvPicPr>
        <p:blipFill>
          <a:blip r:embed="rId9"/>
          <a:stretch/>
        </p:blipFill>
        <p:spPr>
          <a:xfrm>
            <a:off x="22631400" y="24759000"/>
            <a:ext cx="5257800" cy="3081600"/>
          </a:xfrm>
          <a:prstGeom prst="rect">
            <a:avLst/>
          </a:prstGeom>
          <a:noFill/>
          <a:ln w="0">
            <a:noFill/>
          </a:ln>
        </p:spPr>
      </p:pic>
      <p:pic>
        <p:nvPicPr>
          <p:cNvPr id="26" name=""/>
          <p:cNvPicPr/>
          <p:nvPr/>
        </p:nvPicPr>
        <p:blipFill>
          <a:blip r:embed="rId10"/>
          <a:stretch/>
        </p:blipFill>
        <p:spPr>
          <a:xfrm>
            <a:off x="15773400" y="24759000"/>
            <a:ext cx="5943600" cy="2848680"/>
          </a:xfrm>
          <a:prstGeom prst="rect">
            <a:avLst/>
          </a:prstGeom>
          <a:noFill/>
          <a:ln w="0">
            <a:noFill/>
          </a:ln>
        </p:spPr>
      </p:pic>
      <p:sp>
        <p:nvSpPr>
          <p:cNvPr id="27" name=""/>
          <p:cNvSpPr/>
          <p:nvPr/>
        </p:nvSpPr>
        <p:spPr>
          <a:xfrm>
            <a:off x="15472800" y="27842400"/>
            <a:ext cx="13102200" cy="4847400"/>
          </a:xfrm>
          <a:prstGeom prst="rect">
            <a:avLst/>
          </a:prstGeom>
          <a:solidFill>
            <a:srgbClr val="EEEEEE"/>
          </a:solidFill>
          <a:ln w="0">
            <a:solidFill>
              <a:srgbClr val="3465A4">
                <a:alpha val="10000"/>
              </a:srgbClr>
            </a:solidFill>
          </a:ln>
        </p:spPr>
        <p:style>
          <a:lnRef idx="0"/>
          <a:fillRef idx="0"/>
          <a:effectRef idx="0"/>
          <a:fontRef idx="minor"/>
        </p:style>
        <p:txBody>
          <a:bodyPr lIns="90000" tIns="45000" rIns="90000" bIns="45000" anchor="t">
            <a:noAutofit/>
          </a:bodyPr>
          <a:p>
            <a:pPr algn="ctr"/>
            <a:endParaRPr lang="en-GB" sz="800" b="1" u="none" strike="noStrike">
              <a:solidFill>
                <a:srgbClr val="000000"/>
              </a:solidFill>
              <a:effectLst/>
              <a:uFillTx/>
              <a:latin typeface="QTBookmann"/>
            </a:endParaRPr>
          </a:p>
          <a:p>
            <a:pPr algn="ctr"/>
            <a:r>
              <a:rPr lang="en-GB" sz="3200" b="1" u="none" strike="noStrike">
                <a:solidFill>
                  <a:srgbClr val="000000"/>
                </a:solidFill>
                <a:effectLst/>
                <a:uFillTx/>
                <a:latin typeface="QTBookmann"/>
              </a:rPr>
              <a:t>CONCLUSIONS</a:t>
            </a:r>
            <a:endParaRPr lang="en-GB" sz="3200" b="1" u="none" strike="noStrike">
              <a:solidFill>
                <a:srgbClr val="000000"/>
              </a:solidFill>
              <a:effectLst/>
              <a:uFillTx/>
              <a:latin typeface="QTBookmann"/>
            </a:endParaRPr>
          </a:p>
          <a:p>
            <a:pPr algn="ctr"/>
            <a:endParaRPr lang="en-GB" sz="1000" b="1" u="none" strike="noStrike">
              <a:solidFill>
                <a:srgbClr val="000000"/>
              </a:solidFill>
              <a:effectLst/>
              <a:uFillTx/>
              <a:latin typeface="QTBookmann"/>
            </a:endParaRPr>
          </a:p>
          <a:p>
            <a:pPr algn="just">
              <a:spcBef>
                <a:spcPts val="1191"/>
              </a:spcBef>
              <a:spcAft>
                <a:spcPts val="992"/>
              </a:spcAft>
            </a:pPr>
            <a:r>
              <a:rPr lang="en-GB" sz="3200" b="0" u="none" strike="noStrike">
                <a:solidFill>
                  <a:srgbClr val="000000"/>
                </a:solidFill>
                <a:effectLst/>
                <a:uFillTx/>
                <a:latin typeface="QTBookmann"/>
              </a:rPr>
              <a:t>In this work 11 979 critical points were discovered, confirming stable de Sitter vacua. Systematic comparison of non‑lifted vs. lifted potentials revealed new behaviours (vacuum type changes, single‑modulus lifting, flattening). The coefficient A3N3 naturally converged to negative values, matching physical expectations. Some numerical instabilities remain, but grid analysis shows GA tuning improves results. Future work will test other nature‑inspired algorithms.</a:t>
            </a:r>
            <a:endParaRPr lang="en-GB" sz="3200" b="1" u="none" strike="noStrike">
              <a:solidFill>
                <a:srgbClr val="000000"/>
              </a:solidFill>
              <a:effectLst/>
              <a:uFillTx/>
              <a:latin typeface="QTBookmann"/>
            </a:endParaRPr>
          </a:p>
        </p:txBody>
      </p:sp>
      <p:sp>
        <p:nvSpPr>
          <p:cNvPr id="28" name=""/>
          <p:cNvSpPr/>
          <p:nvPr/>
        </p:nvSpPr>
        <p:spPr>
          <a:xfrm>
            <a:off x="15327000" y="12515400"/>
            <a:ext cx="13019400" cy="1310400"/>
          </a:xfrm>
          <a:prstGeom prst="rect">
            <a:avLst/>
          </a:prstGeom>
          <a:solidFill>
            <a:srgbClr val="DADCF7">
              <a:alpha val="15000"/>
            </a:srgbClr>
          </a:solidFill>
          <a:ln w="0">
            <a:solidFill>
              <a:srgbClr val="3465A4">
                <a:alpha val="10000"/>
              </a:srgbClr>
            </a:solidFill>
          </a:ln>
        </p:spPr>
        <p:style>
          <a:lnRef idx="0"/>
          <a:fillRef idx="0"/>
          <a:effectRef idx="0"/>
          <a:fontRef idx="minor"/>
        </p:style>
        <p:txBody>
          <a:bodyPr lIns="90000" tIns="45000" rIns="90000" bIns="45000" anchor="t">
            <a:noAutofit/>
          </a:bodyPr>
          <a:p>
            <a:pPr algn="ctr"/>
            <a:endParaRPr lang="en-GB" sz="2100" b="1" u="none" strike="noStrike">
              <a:solidFill>
                <a:srgbClr val="000000"/>
              </a:solidFill>
              <a:effectLst/>
              <a:uFillTx/>
              <a:latin typeface="QTBookmann"/>
            </a:endParaRPr>
          </a:p>
          <a:p>
            <a:pPr algn="ctr"/>
            <a:r>
              <a:rPr lang="en-GB" sz="3600" b="1" u="none" strike="noStrike">
                <a:solidFill>
                  <a:srgbClr val="000000"/>
                </a:solidFill>
                <a:effectLst/>
                <a:uFillTx/>
                <a:latin typeface="QTBookmann"/>
              </a:rPr>
              <a:t>RESULTS</a:t>
            </a:r>
            <a:endParaRPr lang="en-GB" sz="3600" b="1" u="none" strike="noStrike">
              <a:solidFill>
                <a:srgbClr val="000000"/>
              </a:solidFill>
              <a:effectLst/>
              <a:uFillTx/>
              <a:latin typeface="QTBookmann"/>
            </a:endParaRPr>
          </a:p>
          <a:p>
            <a:pPr algn="ctr"/>
            <a:endParaRPr lang="en-GB" sz="2100" b="1" u="none" strike="noStrike">
              <a:solidFill>
                <a:srgbClr val="000000"/>
              </a:solidFill>
              <a:effectLst/>
              <a:uFillTx/>
              <a:latin typeface="QTBookmann"/>
            </a:endParaRPr>
          </a:p>
          <a:p>
            <a:pPr algn="just"/>
            <a:endParaRPr lang="en-GB" sz="3600" b="1" u="none" strike="noStrike">
              <a:solidFill>
                <a:srgbClr val="000000"/>
              </a:solidFill>
              <a:effectLst/>
              <a:uFillTx/>
              <a:latin typeface="QTBookmann"/>
            </a:endParaRPr>
          </a:p>
        </p:txBody>
      </p:sp>
      <p:sp>
        <p:nvSpPr>
          <p:cNvPr id="29" name=""/>
          <p:cNvSpPr/>
          <p:nvPr/>
        </p:nvSpPr>
        <p:spPr>
          <a:xfrm>
            <a:off x="15544800" y="17004600"/>
            <a:ext cx="12535200" cy="4026600"/>
          </a:xfrm>
          <a:prstGeom prst="rect">
            <a:avLst/>
          </a:prstGeom>
          <a:solidFill>
            <a:srgbClr val="FFFFFF"/>
          </a:solidFill>
          <a:ln w="0">
            <a:solidFill>
              <a:srgbClr val="DAECE7"/>
            </a:solidFill>
          </a:ln>
        </p:spPr>
        <p:style>
          <a:lnRef idx="0"/>
          <a:fillRef idx="0"/>
          <a:effectRef idx="0"/>
          <a:fontRef idx="minor"/>
        </p:style>
        <p:txBody>
          <a:bodyPr lIns="90000" tIns="45000" rIns="90000" bIns="45000" anchor="ctr">
            <a:noAutofit/>
          </a:bodyPr>
          <a:p>
            <a:pPr algn="just">
              <a:lnSpc>
                <a:spcPct val="100000"/>
              </a:lnSpc>
            </a:pPr>
            <a:r>
              <a:rPr lang="en-GB" sz="3200" b="0" u="none" strike="noStrike">
                <a:solidFill>
                  <a:srgbClr val="000000"/>
                </a:solidFill>
                <a:effectLst/>
                <a:uFillTx/>
                <a:latin typeface="QTBookmann"/>
              </a:rPr>
              <a:t>Some vacua were </a:t>
            </a:r>
            <a:r>
              <a:rPr lang="en-GB" sz="2800" b="0" u="none" strike="noStrike">
                <a:solidFill>
                  <a:srgbClr val="000000"/>
                </a:solidFill>
                <a:effectLst/>
                <a:uFillTx/>
                <a:latin typeface="QTBookmann"/>
              </a:rPr>
              <a:t>found</a:t>
            </a:r>
            <a:r>
              <a:rPr lang="en-GB" sz="3200" b="0" u="none" strike="noStrike">
                <a:solidFill>
                  <a:srgbClr val="000000"/>
                </a:solidFill>
                <a:effectLst/>
                <a:uFillTx/>
                <a:latin typeface="QTBookmann"/>
              </a:rPr>
              <a:t> to have interesting behaviours after lifting such as No visible change, Massive lowering, Only s affected.</a:t>
            </a:r>
            <a:endParaRPr lang="en-GB" sz="3200" b="0" u="none" strike="noStrike">
              <a:solidFill>
                <a:srgbClr val="000000"/>
              </a:solidFill>
              <a:effectLst/>
              <a:uFillTx/>
              <a:latin typeface="Arial"/>
            </a:endParaRPr>
          </a:p>
          <a:p>
            <a:pPr algn="just">
              <a:lnSpc>
                <a:spcPct val="100000"/>
              </a:lnSpc>
            </a:pPr>
            <a:r>
              <a:rPr lang="en-GB" sz="3200" b="0" u="none" strike="noStrike">
                <a:solidFill>
                  <a:srgbClr val="000000"/>
                </a:solidFill>
                <a:effectLst/>
                <a:uFillTx/>
                <a:latin typeface="QTBookmann"/>
                <a:ea typeface="PixelMplus10"/>
              </a:rPr>
              <a:t>The term A</a:t>
            </a:r>
            <a:r>
              <a:rPr lang="en-GB" sz="3200" b="0" u="none" strike="noStrike" baseline="-8000">
                <a:solidFill>
                  <a:srgbClr val="000000"/>
                </a:solidFill>
                <a:effectLst/>
                <a:uFillTx/>
                <a:latin typeface="QTBookmann"/>
                <a:ea typeface="PixelMplus10"/>
              </a:rPr>
              <a:t>3</a:t>
            </a:r>
            <a:r>
              <a:rPr lang="en-GB" sz="3200" b="0" u="none" strike="noStrike">
                <a:solidFill>
                  <a:srgbClr val="000000"/>
                </a:solidFill>
                <a:effectLst/>
                <a:uFillTx/>
                <a:latin typeface="QTBookmann"/>
                <a:ea typeface="PixelMplus10"/>
              </a:rPr>
              <a:t>N</a:t>
            </a:r>
            <a:r>
              <a:rPr lang="en-GB" sz="3200" b="0" u="none" strike="noStrike" baseline="-8000">
                <a:solidFill>
                  <a:srgbClr val="000000"/>
                </a:solidFill>
                <a:effectLst/>
                <a:uFillTx/>
                <a:latin typeface="QTBookmann"/>
                <a:ea typeface="PixelMplus10"/>
              </a:rPr>
              <a:t>3</a:t>
            </a:r>
            <a:r>
              <a:rPr lang="en-GB" sz="3200" b="0" u="none" strike="noStrike">
                <a:solidFill>
                  <a:srgbClr val="000000"/>
                </a:solidFill>
                <a:effectLst/>
                <a:uFillTx/>
                <a:latin typeface="QTBookmann"/>
                <a:ea typeface="PixelMplus10"/>
              </a:rPr>
              <a:t> was found to be consistently definite negative even though the bounds were |</a:t>
            </a:r>
            <a:r>
              <a:rPr lang="en-GB" sz="3200" b="0" u="none" strike="noStrike">
                <a:solidFill>
                  <a:srgbClr val="000000"/>
                </a:solidFill>
                <a:effectLst/>
                <a:uFillTx/>
                <a:latin typeface="QTBookmann"/>
              </a:rPr>
              <a:t>A</a:t>
            </a:r>
            <a:r>
              <a:rPr lang="en-GB" sz="3200" b="0" u="none" strike="noStrike" baseline="-8000">
                <a:solidFill>
                  <a:srgbClr val="000000"/>
                </a:solidFill>
                <a:effectLst/>
                <a:uFillTx/>
                <a:latin typeface="QTBookmann"/>
              </a:rPr>
              <a:t>3</a:t>
            </a:r>
            <a:r>
              <a:rPr lang="en-GB" sz="3200" b="0" u="none" strike="noStrike">
                <a:solidFill>
                  <a:srgbClr val="000000"/>
                </a:solidFill>
                <a:effectLst/>
                <a:uFillTx/>
                <a:latin typeface="QTBookmann"/>
              </a:rPr>
              <a:t>N</a:t>
            </a:r>
            <a:r>
              <a:rPr lang="en-GB" sz="3200" b="0" u="none" strike="noStrike" baseline="-8000">
                <a:solidFill>
                  <a:srgbClr val="000000"/>
                </a:solidFill>
                <a:effectLst/>
                <a:uFillTx/>
                <a:latin typeface="QTBookmann"/>
              </a:rPr>
              <a:t>3</a:t>
            </a:r>
            <a:r>
              <a:rPr lang="en-GB" sz="3200" b="0" u="none" strike="noStrike">
                <a:solidFill>
                  <a:srgbClr val="000000"/>
                </a:solidFill>
                <a:effectLst/>
                <a:uFillTx/>
                <a:latin typeface="QTBookmann"/>
              </a:rPr>
              <a:t>| &lt; 100</a:t>
            </a:r>
            <a:endParaRPr lang="en-GB" sz="3200" b="0" u="none" strike="noStrike">
              <a:solidFill>
                <a:srgbClr val="000000"/>
              </a:solidFill>
              <a:effectLst/>
              <a:uFillTx/>
              <a:latin typeface="Arial"/>
            </a:endParaRPr>
          </a:p>
          <a:p>
            <a:pPr algn="just">
              <a:lnSpc>
                <a:spcPct val="100000"/>
              </a:lnSpc>
            </a:pPr>
            <a:r>
              <a:rPr lang="en-GB" sz="3200" b="0" u="none" strike="noStrike">
                <a:solidFill>
                  <a:srgbClr val="000000"/>
                </a:solidFill>
                <a:effectLst/>
                <a:uFillTx/>
                <a:latin typeface="QTBookmann"/>
              </a:rPr>
              <a:t>After the grid, it was found that, from 4 models, the best one was the one with 50 generations, 20 individuals, 0.5 of cross probability and 0.6 of mutation probability.</a:t>
            </a:r>
            <a:endParaRPr lang="en-GB" sz="3200" b="0" u="none" strike="noStrike">
              <a:solidFill>
                <a:srgbClr val="000000"/>
              </a:solidFill>
              <a:effectLst/>
              <a:uFillTx/>
              <a:latin typeface="Arial"/>
            </a:endParaRPr>
          </a:p>
        </p:txBody>
      </p:sp>
      <p:sp>
        <p:nvSpPr>
          <p:cNvPr id="30" name=""/>
          <p:cNvSpPr/>
          <p:nvPr/>
        </p:nvSpPr>
        <p:spPr>
          <a:xfrm>
            <a:off x="15544800" y="32918400"/>
            <a:ext cx="13030200" cy="4572000"/>
          </a:xfrm>
          <a:prstGeom prst="rect">
            <a:avLst/>
          </a:prstGeom>
          <a:solidFill>
            <a:srgbClr val="FFFFFF"/>
          </a:solidFill>
          <a:ln w="0">
            <a:solidFill>
              <a:srgbClr val="000000"/>
            </a:solidFill>
          </a:ln>
        </p:spPr>
        <p:style>
          <a:lnRef idx="0"/>
          <a:fillRef idx="0"/>
          <a:effectRef idx="0"/>
          <a:fontRef idx="minor"/>
        </p:style>
        <p:txBody>
          <a:bodyPr lIns="90000" tIns="45000" rIns="90000" bIns="45000" anchor="t" anchorCtr="1">
            <a:noAutofit/>
          </a:bodyPr>
          <a:p>
            <a:pPr algn="r"/>
            <a:endParaRPr lang="es-MX" sz="800" b="0" u="none" strike="noStrike">
              <a:solidFill>
                <a:srgbClr val="000000"/>
              </a:solidFill>
              <a:effectLst/>
              <a:uFillTx/>
              <a:latin typeface="Arial"/>
            </a:endParaRPr>
          </a:p>
          <a:p>
            <a:pPr algn="r">
              <a:lnSpc>
                <a:spcPct val="100000"/>
              </a:lnSpc>
            </a:pPr>
            <a:r>
              <a:rPr lang="en-GB" sz="3200" b="1" u="none" strike="noStrike">
                <a:solidFill>
                  <a:srgbClr val="000000"/>
                </a:solidFill>
                <a:effectLst/>
                <a:uFillTx/>
                <a:latin typeface="QTBookmann"/>
              </a:rPr>
              <a:t>REFERENCES</a:t>
            </a:r>
            <a:endParaRPr lang="es-MX" sz="3200" b="0" u="none" strike="noStrike">
              <a:solidFill>
                <a:srgbClr val="000000"/>
              </a:solidFill>
              <a:effectLst/>
              <a:uFillTx/>
              <a:latin typeface="Arial"/>
            </a:endParaRPr>
          </a:p>
          <a:p>
            <a:pPr algn="r">
              <a:lnSpc>
                <a:spcPct val="100000"/>
              </a:lnSpc>
            </a:pPr>
            <a:endParaRPr lang="es-MX" sz="1000" b="0" u="none" strike="noStrike">
              <a:solidFill>
                <a:srgbClr val="000000"/>
              </a:solidFill>
              <a:effectLst/>
              <a:uFillTx/>
              <a:latin typeface="Arial"/>
            </a:endParaRPr>
          </a:p>
          <a:p>
            <a:pPr algn="r">
              <a:lnSpc>
                <a:spcPct val="100000"/>
              </a:lnSpc>
              <a:spcBef>
                <a:spcPts val="1191"/>
              </a:spcBef>
              <a:spcAft>
                <a:spcPts val="992"/>
              </a:spcAft>
            </a:pPr>
            <a:r>
              <a:rPr lang="en-GB" sz="1800" b="0" u="none" strike="noStrike">
                <a:solidFill>
                  <a:srgbClr val="000000"/>
                </a:solidFill>
                <a:effectLst/>
                <a:uFillTx/>
                <a:latin typeface="QTBookmann"/>
              </a:rPr>
              <a:t>Abel, S., Rizos, J.: Genetic algorithms and the search for viable string vacua. Journal of High Energy Physics 2014(8) (Aug 2014). DOI: 10.1007/JHEP08(2014)010</a:t>
            </a:r>
            <a:endParaRPr lang="es-MX" sz="1800" b="0" u="none" strike="noStrike">
              <a:solidFill>
                <a:srgbClr val="000000"/>
              </a:solidFill>
              <a:effectLst/>
              <a:uFillTx/>
              <a:latin typeface="Arial"/>
            </a:endParaRPr>
          </a:p>
          <a:p>
            <a:pPr algn="r">
              <a:lnSpc>
                <a:spcPct val="100000"/>
              </a:lnSpc>
              <a:spcBef>
                <a:spcPts val="1191"/>
              </a:spcBef>
              <a:spcAft>
                <a:spcPts val="992"/>
              </a:spcAft>
            </a:pPr>
            <a:r>
              <a:rPr lang="en-GB" sz="1800" b="0" u="none" strike="noStrike">
                <a:solidFill>
                  <a:srgbClr val="000000"/>
                </a:solidFill>
                <a:effectLst/>
                <a:uFillTx/>
                <a:latin typeface="QTBookmann"/>
              </a:rPr>
              <a:t>Cole, A., Krippendorf, S., Schachner, A., Shiu, G.: Probing the structure of string theory vacua with genetic algorithms and reinforcement learning (2021)</a:t>
            </a:r>
            <a:endParaRPr lang="es-MX" sz="1800" b="0" u="none" strike="noStrike">
              <a:solidFill>
                <a:srgbClr val="000000"/>
              </a:solidFill>
              <a:effectLst/>
              <a:uFillTx/>
              <a:latin typeface="Arial"/>
            </a:endParaRPr>
          </a:p>
          <a:p>
            <a:pPr algn="r">
              <a:lnSpc>
                <a:spcPct val="100000"/>
              </a:lnSpc>
              <a:spcBef>
                <a:spcPts val="1191"/>
              </a:spcBef>
              <a:spcAft>
                <a:spcPts val="992"/>
              </a:spcAft>
            </a:pPr>
            <a:r>
              <a:rPr lang="en-GB" sz="1800" b="0" u="none" strike="noStrike">
                <a:solidFill>
                  <a:srgbClr val="000000"/>
                </a:solidFill>
                <a:effectLst/>
                <a:uFillTx/>
                <a:latin typeface="QTBookmann"/>
              </a:rPr>
              <a:t>Damian, C., Loaiza-Brito, O.: Metastable vacua from torsion and machine learning. The European Physical Journal C 82(12) (Dec 2022). DOI: 10.1140/epjc/s10052-022-11118-x</a:t>
            </a:r>
            <a:endParaRPr lang="es-MX" sz="1800" b="0" u="none" strike="noStrike">
              <a:solidFill>
                <a:srgbClr val="000000"/>
              </a:solidFill>
              <a:effectLst/>
              <a:uFillTx/>
              <a:latin typeface="Arial"/>
            </a:endParaRPr>
          </a:p>
          <a:p>
            <a:pPr algn="r">
              <a:lnSpc>
                <a:spcPct val="100000"/>
              </a:lnSpc>
              <a:spcBef>
                <a:spcPts val="1191"/>
              </a:spcBef>
              <a:spcAft>
                <a:spcPts val="992"/>
              </a:spcAft>
            </a:pPr>
            <a:r>
              <a:rPr lang="en-GB" sz="1800" b="0" u="none" strike="noStrike">
                <a:solidFill>
                  <a:srgbClr val="000000"/>
                </a:solidFill>
                <a:effectLst/>
                <a:uFillTx/>
                <a:latin typeface="QTBookmann"/>
              </a:rPr>
              <a:t>Eiben, A., Smith, J.: Introduction to Evolutionary Computing. Springer Berlin Heidelberg (2015). DOI: 10.1007/978-3-662-44874-8</a:t>
            </a:r>
            <a:endParaRPr lang="es-MX"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Violeta II">
      <a:dk1>
        <a:srgbClr val="000000"/>
      </a:dk1>
      <a:lt1>
        <a:srgbClr val="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Violeta II">
      <a:dk1>
        <a:srgbClr val="000000"/>
      </a:dk1>
      <a:lt1>
        <a:srgbClr val="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140</TotalTime>
  <Application>LibreOffice/26.2.2.2$Linux_X86_64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2026-05-08T17:27:02Z</dcterms:created>
  <dc:creator>Brandon Marquez Salazar</dc:creator>
  <dc:description/>
  <dc:language>en-GB</dc:language>
  <cp:lastModifiedBy>Brandon Marquez Salazar</cp:lastModifiedBy>
  <cp:lastPrinted>2026-05-08T22:16:19Z</cp:lastPrinted>
  <dcterms:modified xsi:type="dcterms:W3CDTF">2026-05-08T22:30:00Z</dcterms:modified>
  <cp:revision>40</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Personalizado</vt:lpwstr>
  </property>
  <property fmtid="{D5CDD505-2E9C-101B-9397-08002B2CF9AE}" pid="4" name="Slides">
    <vt:r8>2</vt:r8>
  </property>
</Properties>
</file>